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8288000" cy="10287000"/>
  <p:notesSz cx="6858000" cy="9144000"/>
  <p:embeddedFontLst>
    <p:embeddedFont>
      <p:font typeface="Arimo" panose="020B0604020202020204" charset="0"/>
      <p:regular r:id="rId37"/>
    </p:embeddedFont>
    <p:embeddedFont>
      <p:font typeface="Arimo Bold" panose="020B0604020202020204" charset="0"/>
      <p:regular r:id="rId38"/>
    </p:embeddedFont>
    <p:embeddedFont>
      <p:font typeface="DM Sans" pitchFamily="2" charset="0"/>
      <p:regular r:id="rId39"/>
    </p:embeddedFont>
    <p:embeddedFont>
      <p:font typeface="DM Sans Bold" charset="0"/>
      <p:regular r:id="rId40"/>
    </p:embeddedFont>
    <p:embeddedFont>
      <p:font typeface="Open Sans" panose="020B0606030504020204" pitchFamily="34" charset="0"/>
      <p:regular r:id="rId41"/>
    </p:embeddedFont>
    <p:embeddedFont>
      <p:font typeface="Open Sans Bold" panose="020B0806030504020204" charset="0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22.08.2024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22-Aug-24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22-Aug-24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22-Aug-24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22-Aug-24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22-Aug-24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22-Aug-24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22-Aug-24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image" Target="../media/image2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jpeg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59935" y="-905638"/>
            <a:ext cx="19315300" cy="12098276"/>
          </a:xfrm>
          <a:custGeom>
            <a:avLst/>
            <a:gdLst/>
            <a:ahLst/>
            <a:cxnLst/>
            <a:rect l="l" t="t" r="r" b="b"/>
            <a:pathLst>
              <a:path w="19315300" h="12098276">
                <a:moveTo>
                  <a:pt x="0" y="0"/>
                </a:moveTo>
                <a:lnTo>
                  <a:pt x="19315300" y="0"/>
                </a:lnTo>
                <a:lnTo>
                  <a:pt x="19315300" y="12098276"/>
                </a:lnTo>
                <a:lnTo>
                  <a:pt x="0" y="12098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135075" y="-299258"/>
            <a:ext cx="4017849" cy="2584759"/>
          </a:xfrm>
          <a:custGeom>
            <a:avLst/>
            <a:gdLst/>
            <a:ahLst/>
            <a:cxnLst/>
            <a:rect l="l" t="t" r="r" b="b"/>
            <a:pathLst>
              <a:path w="4017849" h="2584759">
                <a:moveTo>
                  <a:pt x="0" y="0"/>
                </a:moveTo>
                <a:lnTo>
                  <a:pt x="4017850" y="0"/>
                </a:lnTo>
                <a:lnTo>
                  <a:pt x="4017850" y="2584758"/>
                </a:lnTo>
                <a:lnTo>
                  <a:pt x="0" y="25847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968923" y="3893676"/>
            <a:ext cx="14350154" cy="2771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19599E"/>
                </a:solidFill>
                <a:latin typeface="Arimo Bold"/>
                <a:ea typeface="Arimo Bold"/>
                <a:cs typeface="Arimo Bold"/>
                <a:sym typeface="Arimo Bold"/>
              </a:rPr>
              <a:t>XÁC ĐỊNH VĂN BẢN TRONG ẢNH</a:t>
            </a:r>
          </a:p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19599E"/>
                </a:solidFill>
                <a:latin typeface="Arimo Bold"/>
                <a:ea typeface="Arimo Bold"/>
                <a:cs typeface="Arimo Bold"/>
                <a:sym typeface="Arimo Bold"/>
              </a:rPr>
              <a:t> BẰNG</a:t>
            </a:r>
          </a:p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19599E"/>
                </a:solidFill>
                <a:latin typeface="Arimo Bold"/>
                <a:ea typeface="Arimo Bold"/>
                <a:cs typeface="Arimo Bold"/>
                <a:sym typeface="Arimo Bold"/>
              </a:rPr>
              <a:t>PHƯƠNG PHÁP MÁY HỌC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31425" y="2152150"/>
            <a:ext cx="15225150" cy="1315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9"/>
              </a:lnSpc>
            </a:pPr>
            <a:r>
              <a:rPr lang="en-US" sz="3399" dirty="0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ans"/>
              </a:rPr>
              <a:t>Trường</a:t>
            </a:r>
            <a:r>
              <a:rPr lang="en-US" sz="3399" dirty="0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ans"/>
              </a:rPr>
              <a:t> </a:t>
            </a:r>
            <a:r>
              <a:rPr lang="en-US" sz="3399" dirty="0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ans"/>
              </a:rPr>
              <a:t>Đại</a:t>
            </a:r>
            <a:r>
              <a:rPr lang="en-US" sz="3399" dirty="0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ans"/>
              </a:rPr>
              <a:t> </a:t>
            </a:r>
            <a:r>
              <a:rPr lang="en-US" sz="3399" dirty="0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ans"/>
              </a:rPr>
              <a:t>học</a:t>
            </a:r>
            <a:r>
              <a:rPr lang="en-US" sz="3399" dirty="0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ans"/>
              </a:rPr>
              <a:t> </a:t>
            </a:r>
            <a:r>
              <a:rPr lang="en-US" sz="3399" dirty="0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ans"/>
              </a:rPr>
              <a:t>Ngoại</a:t>
            </a:r>
            <a:r>
              <a:rPr lang="en-US" sz="3399" dirty="0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ans"/>
              </a:rPr>
              <a:t> </a:t>
            </a:r>
            <a:r>
              <a:rPr lang="en-US" sz="3399" dirty="0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ans"/>
              </a:rPr>
              <a:t>ngữ</a:t>
            </a:r>
            <a:r>
              <a:rPr lang="en-US" sz="3399" dirty="0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ans"/>
              </a:rPr>
              <a:t> - Tin </a:t>
            </a:r>
            <a:r>
              <a:rPr lang="en-US" sz="3399" dirty="0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ans"/>
              </a:rPr>
              <a:t>học</a:t>
            </a:r>
            <a:r>
              <a:rPr lang="en-US" sz="3399" dirty="0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ans"/>
              </a:rPr>
              <a:t> Tp. </a:t>
            </a:r>
            <a:r>
              <a:rPr lang="en-US" sz="3399" dirty="0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ans"/>
              </a:rPr>
              <a:t>Hồ</a:t>
            </a:r>
            <a:r>
              <a:rPr lang="en-US" sz="3399" dirty="0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ans"/>
              </a:rPr>
              <a:t> Chí Minh</a:t>
            </a:r>
          </a:p>
          <a:p>
            <a:pPr algn="ctr">
              <a:lnSpc>
                <a:spcPts val="5279"/>
              </a:lnSpc>
            </a:pPr>
            <a:r>
              <a:rPr lang="en-US" sz="3299" dirty="0">
                <a:solidFill>
                  <a:srgbClr val="0E2A47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  <a:sym typeface="Grand Cru M Bold"/>
              </a:rPr>
              <a:t>Khoa </a:t>
            </a:r>
            <a:r>
              <a:rPr lang="en-US" sz="3299" dirty="0" err="1">
                <a:solidFill>
                  <a:srgbClr val="0E2A47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  <a:sym typeface="Grand Cru M Bold"/>
              </a:rPr>
              <a:t>Công</a:t>
            </a:r>
            <a:r>
              <a:rPr lang="en-US" sz="3299" dirty="0">
                <a:solidFill>
                  <a:srgbClr val="0E2A47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  <a:sym typeface="Grand Cru M Bold"/>
              </a:rPr>
              <a:t> </a:t>
            </a:r>
            <a:r>
              <a:rPr lang="en-US" sz="3299" dirty="0" err="1">
                <a:solidFill>
                  <a:srgbClr val="0E2A47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  <a:sym typeface="Grand Cru M Bold"/>
              </a:rPr>
              <a:t>nghệ</a:t>
            </a:r>
            <a:r>
              <a:rPr lang="en-US" sz="3299" dirty="0">
                <a:solidFill>
                  <a:srgbClr val="0E2A47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  <a:sym typeface="Grand Cru M Bold"/>
              </a:rPr>
              <a:t> Thông tin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90420" y="7005530"/>
            <a:ext cx="6868880" cy="1874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55"/>
              </a:lnSpc>
            </a:pPr>
            <a:r>
              <a:rPr lang="en-US" sz="3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GVHD: PGS.TS Nguyễn Thanh Bình</a:t>
            </a:r>
          </a:p>
          <a:p>
            <a:pPr algn="l">
              <a:lnSpc>
                <a:spcPts val="5055"/>
              </a:lnSpc>
            </a:pPr>
            <a:r>
              <a:rPr lang="en-US" sz="3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SVTH: Ngô Trọng Tín - 21DH111919</a:t>
            </a:r>
          </a:p>
          <a:p>
            <a:pPr algn="l">
              <a:lnSpc>
                <a:spcPts val="5055"/>
              </a:lnSpc>
            </a:pPr>
            <a:r>
              <a:rPr lang="en-US" sz="3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Lương Gia Ân - 21DH113466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85140" y="9460906"/>
            <a:ext cx="15225150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000">
                <a:solidFill>
                  <a:srgbClr val="384655"/>
                </a:solidFill>
                <a:latin typeface="DM Sans"/>
                <a:ea typeface="DM Sans"/>
                <a:cs typeface="DM Sans"/>
                <a:sym typeface="DM Sans"/>
              </a:rPr>
              <a:t>TP. HỒ CHÍ MINH, NGÀY 05 THÁNG 08 NĂM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54472" y="-876306"/>
            <a:ext cx="19996870" cy="12039618"/>
          </a:xfrm>
          <a:custGeom>
            <a:avLst/>
            <a:gdLst/>
            <a:ahLst/>
            <a:cxnLst/>
            <a:rect l="l" t="t" r="r" b="b"/>
            <a:pathLst>
              <a:path w="19996870" h="12039618">
                <a:moveTo>
                  <a:pt x="0" y="0"/>
                </a:moveTo>
                <a:lnTo>
                  <a:pt x="19996870" y="0"/>
                </a:lnTo>
                <a:lnTo>
                  <a:pt x="19996870" y="12039618"/>
                </a:lnTo>
                <a:lnTo>
                  <a:pt x="0" y="120396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182576" y="591531"/>
            <a:ext cx="11922700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TỔNG QUAN NỘI DUNG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02188" y="2791806"/>
            <a:ext cx="1286550" cy="99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43396" y="6519528"/>
            <a:ext cx="1286550" cy="99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00730" y="2791806"/>
            <a:ext cx="1286550" cy="99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041938" y="6519528"/>
            <a:ext cx="1286550" cy="99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05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99288" y="2791806"/>
            <a:ext cx="1286550" cy="99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89459" y="3907392"/>
            <a:ext cx="4112008" cy="1671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23"/>
              </a:lnSpc>
            </a:pPr>
            <a:r>
              <a:rPr lang="en-US" sz="48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GIỚI THIỆU ĐỀ TÀI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87922" y="3907392"/>
            <a:ext cx="4112008" cy="1671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23"/>
              </a:lnSpc>
            </a:pPr>
            <a:r>
              <a:rPr lang="en-US" sz="48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GIẢI PHÁP ĐỀ XUẤT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23880" y="3882118"/>
            <a:ext cx="4428150" cy="1671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23"/>
              </a:lnSpc>
            </a:pPr>
            <a:r>
              <a:rPr lang="en-US" sz="48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THỰC</a:t>
            </a:r>
          </a:p>
          <a:p>
            <a:pPr algn="ctr">
              <a:lnSpc>
                <a:spcPts val="6623"/>
              </a:lnSpc>
            </a:pPr>
            <a:r>
              <a:rPr lang="en-US" sz="48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NGHIỆM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72596" y="7690102"/>
            <a:ext cx="4428150" cy="833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23"/>
              </a:lnSpc>
            </a:pPr>
            <a:r>
              <a:rPr lang="en-US" sz="48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TỔNG KẾT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71138" y="7586853"/>
            <a:ext cx="4428150" cy="1671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23"/>
              </a:lnSpc>
            </a:pPr>
            <a:r>
              <a:rPr lang="en-US" sz="48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TÀI LIỆU THAM KHẢO</a:t>
            </a:r>
          </a:p>
        </p:txBody>
      </p:sp>
    </p:spTree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99632" y="4205850"/>
            <a:ext cx="9262503" cy="3705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GIỚI THIỆU ĐỀ TÀI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99632" y="2328300"/>
            <a:ext cx="2345550" cy="1696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id="4" name="Freeform 4"/>
          <p:cNvSpPr/>
          <p:nvPr/>
        </p:nvSpPr>
        <p:spPr>
          <a:xfrm>
            <a:off x="10190710" y="-325794"/>
            <a:ext cx="8475276" cy="12039256"/>
          </a:xfrm>
          <a:custGeom>
            <a:avLst/>
            <a:gdLst/>
            <a:ahLst/>
            <a:cxnLst/>
            <a:rect l="l" t="t" r="r" b="b"/>
            <a:pathLst>
              <a:path w="8475276" h="12039256">
                <a:moveTo>
                  <a:pt x="0" y="0"/>
                </a:moveTo>
                <a:lnTo>
                  <a:pt x="8475276" y="0"/>
                </a:lnTo>
                <a:lnTo>
                  <a:pt x="8475276" y="12039256"/>
                </a:lnTo>
                <a:lnTo>
                  <a:pt x="0" y="120392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399632" y="2356875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29645" y="6102237"/>
            <a:ext cx="20947290" cy="4660542"/>
          </a:xfrm>
          <a:custGeom>
            <a:avLst/>
            <a:gdLst/>
            <a:ahLst/>
            <a:cxnLst/>
            <a:rect l="l" t="t" r="r" b="b"/>
            <a:pathLst>
              <a:path w="20947290" h="4660542">
                <a:moveTo>
                  <a:pt x="0" y="0"/>
                </a:moveTo>
                <a:lnTo>
                  <a:pt x="20947290" y="0"/>
                </a:lnTo>
                <a:lnTo>
                  <a:pt x="20947290" y="4660542"/>
                </a:lnTo>
                <a:lnTo>
                  <a:pt x="0" y="4660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63222" y="358123"/>
            <a:ext cx="14492046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40"/>
              </a:lnSpc>
            </a:pPr>
            <a:r>
              <a:rPr lang="en-US" sz="67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XÁC ĐỊNH VĂN BẢN TRONG ẢNH?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63222" y="1643991"/>
            <a:ext cx="16796078" cy="1571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47"/>
              </a:lnSpc>
            </a:pPr>
            <a:r>
              <a:rPr lang="en-US" sz="4599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Bao gồm: </a:t>
            </a:r>
            <a:r>
              <a:rPr lang="en-US" sz="4599" u="sng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Xác định văn bản</a:t>
            </a:r>
            <a:r>
              <a:rPr lang="en-US" sz="4599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trong ảnh và </a:t>
            </a:r>
            <a:r>
              <a:rPr lang="en-US" sz="4599" u="sng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trích xuất nội dung</a:t>
            </a:r>
            <a:r>
              <a:rPr lang="en-US" sz="4599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văn bản trong ảnh thành một tập văn bản.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660317" y="3757790"/>
            <a:ext cx="5048928" cy="2344447"/>
            <a:chOff x="0" y="0"/>
            <a:chExt cx="6731904" cy="3125929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6731904" cy="3125929"/>
              <a:chOff x="0" y="0"/>
              <a:chExt cx="1329759" cy="61746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329759" cy="617468"/>
              </a:xfrm>
              <a:custGeom>
                <a:avLst/>
                <a:gdLst/>
                <a:ahLst/>
                <a:cxnLst/>
                <a:rect l="l" t="t" r="r" b="b"/>
                <a:pathLst>
                  <a:path w="1329759" h="617468">
                    <a:moveTo>
                      <a:pt x="78202" y="0"/>
                    </a:moveTo>
                    <a:lnTo>
                      <a:pt x="1251557" y="0"/>
                    </a:lnTo>
                    <a:cubicBezTo>
                      <a:pt x="1294746" y="0"/>
                      <a:pt x="1329759" y="35012"/>
                      <a:pt x="1329759" y="78202"/>
                    </a:cubicBezTo>
                    <a:lnTo>
                      <a:pt x="1329759" y="539265"/>
                    </a:lnTo>
                    <a:cubicBezTo>
                      <a:pt x="1329759" y="582455"/>
                      <a:pt x="1294746" y="617468"/>
                      <a:pt x="1251557" y="617468"/>
                    </a:cubicBezTo>
                    <a:lnTo>
                      <a:pt x="78202" y="617468"/>
                    </a:lnTo>
                    <a:cubicBezTo>
                      <a:pt x="35012" y="617468"/>
                      <a:pt x="0" y="582455"/>
                      <a:pt x="0" y="539265"/>
                    </a:cubicBezTo>
                    <a:lnTo>
                      <a:pt x="0" y="78202"/>
                    </a:lnTo>
                    <a:cubicBezTo>
                      <a:pt x="0" y="35012"/>
                      <a:pt x="35012" y="0"/>
                      <a:pt x="78202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1329759" cy="6650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00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914534" y="559665"/>
              <a:ext cx="4902835" cy="2006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999"/>
                </a:lnSpc>
              </a:pPr>
              <a:r>
                <a:rPr lang="en-US" sz="49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Số hóa</a:t>
              </a:r>
            </a:p>
            <a:p>
              <a:pPr algn="ctr">
                <a:lnSpc>
                  <a:spcPts val="5999"/>
                </a:lnSpc>
                <a:spcBef>
                  <a:spcPct val="0"/>
                </a:spcBef>
              </a:pPr>
              <a:r>
                <a:rPr lang="en-US" sz="49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tài liệu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660317" y="7136371"/>
            <a:ext cx="5048928" cy="2088591"/>
            <a:chOff x="0" y="0"/>
            <a:chExt cx="6731904" cy="2784788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6731904" cy="2784788"/>
              <a:chOff x="0" y="0"/>
              <a:chExt cx="1329759" cy="55008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329759" cy="550082"/>
              </a:xfrm>
              <a:custGeom>
                <a:avLst/>
                <a:gdLst/>
                <a:ahLst/>
                <a:cxnLst/>
                <a:rect l="l" t="t" r="r" b="b"/>
                <a:pathLst>
                  <a:path w="1329759" h="550082">
                    <a:moveTo>
                      <a:pt x="78202" y="0"/>
                    </a:moveTo>
                    <a:lnTo>
                      <a:pt x="1251557" y="0"/>
                    </a:lnTo>
                    <a:cubicBezTo>
                      <a:pt x="1294746" y="0"/>
                      <a:pt x="1329759" y="35012"/>
                      <a:pt x="1329759" y="78202"/>
                    </a:cubicBezTo>
                    <a:lnTo>
                      <a:pt x="1329759" y="471879"/>
                    </a:lnTo>
                    <a:cubicBezTo>
                      <a:pt x="1329759" y="515069"/>
                      <a:pt x="1294746" y="550082"/>
                      <a:pt x="1251557" y="550082"/>
                    </a:cubicBezTo>
                    <a:lnTo>
                      <a:pt x="78202" y="550082"/>
                    </a:lnTo>
                    <a:cubicBezTo>
                      <a:pt x="35012" y="550082"/>
                      <a:pt x="0" y="515069"/>
                      <a:pt x="0" y="471879"/>
                    </a:cubicBezTo>
                    <a:lnTo>
                      <a:pt x="0" y="78202"/>
                    </a:lnTo>
                    <a:cubicBezTo>
                      <a:pt x="0" y="35012"/>
                      <a:pt x="35012" y="0"/>
                      <a:pt x="78202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329759" cy="5977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00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509761" y="890744"/>
              <a:ext cx="3712381" cy="1003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999"/>
                </a:lnSpc>
                <a:spcBef>
                  <a:spcPct val="0"/>
                </a:spcBef>
              </a:pPr>
              <a:r>
                <a:rPr lang="en-US" sz="49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Giáo dục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437458" y="7169709"/>
            <a:ext cx="5048928" cy="2021916"/>
            <a:chOff x="0" y="0"/>
            <a:chExt cx="6731904" cy="2695888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6731904" cy="2695888"/>
              <a:chOff x="0" y="0"/>
              <a:chExt cx="1329759" cy="532521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329759" cy="532521"/>
              </a:xfrm>
              <a:custGeom>
                <a:avLst/>
                <a:gdLst/>
                <a:ahLst/>
                <a:cxnLst/>
                <a:rect l="l" t="t" r="r" b="b"/>
                <a:pathLst>
                  <a:path w="1329759" h="532521">
                    <a:moveTo>
                      <a:pt x="78202" y="0"/>
                    </a:moveTo>
                    <a:lnTo>
                      <a:pt x="1251557" y="0"/>
                    </a:lnTo>
                    <a:cubicBezTo>
                      <a:pt x="1294746" y="0"/>
                      <a:pt x="1329759" y="35012"/>
                      <a:pt x="1329759" y="78202"/>
                    </a:cubicBezTo>
                    <a:lnTo>
                      <a:pt x="1329759" y="454319"/>
                    </a:lnTo>
                    <a:cubicBezTo>
                      <a:pt x="1329759" y="497509"/>
                      <a:pt x="1294746" y="532521"/>
                      <a:pt x="1251557" y="532521"/>
                    </a:cubicBezTo>
                    <a:lnTo>
                      <a:pt x="78202" y="532521"/>
                    </a:lnTo>
                    <a:cubicBezTo>
                      <a:pt x="35012" y="532521"/>
                      <a:pt x="0" y="497509"/>
                      <a:pt x="0" y="454319"/>
                    </a:cubicBezTo>
                    <a:lnTo>
                      <a:pt x="0" y="78202"/>
                    </a:lnTo>
                    <a:cubicBezTo>
                      <a:pt x="0" y="35012"/>
                      <a:pt x="35012" y="0"/>
                      <a:pt x="78202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1329759" cy="58014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00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816071" y="433544"/>
              <a:ext cx="5099762" cy="182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  <a:spcBef>
                  <a:spcPct val="0"/>
                </a:spcBef>
              </a:pPr>
              <a:r>
                <a:rPr lang="en-US" sz="45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Hỗ trợ người khuyết tật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437458" y="3757790"/>
            <a:ext cx="5048928" cy="2344447"/>
            <a:chOff x="0" y="0"/>
            <a:chExt cx="6731904" cy="3125929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6731904" cy="3125929"/>
              <a:chOff x="0" y="0"/>
              <a:chExt cx="1329759" cy="617468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329759" cy="617468"/>
              </a:xfrm>
              <a:custGeom>
                <a:avLst/>
                <a:gdLst/>
                <a:ahLst/>
                <a:cxnLst/>
                <a:rect l="l" t="t" r="r" b="b"/>
                <a:pathLst>
                  <a:path w="1329759" h="617468">
                    <a:moveTo>
                      <a:pt x="78202" y="0"/>
                    </a:moveTo>
                    <a:lnTo>
                      <a:pt x="1251557" y="0"/>
                    </a:lnTo>
                    <a:cubicBezTo>
                      <a:pt x="1294746" y="0"/>
                      <a:pt x="1329759" y="35012"/>
                      <a:pt x="1329759" y="78202"/>
                    </a:cubicBezTo>
                    <a:lnTo>
                      <a:pt x="1329759" y="539265"/>
                    </a:lnTo>
                    <a:cubicBezTo>
                      <a:pt x="1329759" y="582455"/>
                      <a:pt x="1294746" y="617468"/>
                      <a:pt x="1251557" y="617468"/>
                    </a:cubicBezTo>
                    <a:lnTo>
                      <a:pt x="78202" y="617468"/>
                    </a:lnTo>
                    <a:cubicBezTo>
                      <a:pt x="35012" y="617468"/>
                      <a:pt x="0" y="582455"/>
                      <a:pt x="0" y="539265"/>
                    </a:cubicBezTo>
                    <a:lnTo>
                      <a:pt x="0" y="78202"/>
                    </a:lnTo>
                    <a:cubicBezTo>
                      <a:pt x="0" y="35012"/>
                      <a:pt x="35012" y="0"/>
                      <a:pt x="78202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1329759" cy="6650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00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287593" y="648565"/>
              <a:ext cx="4156718" cy="182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</a:pPr>
              <a:r>
                <a:rPr lang="en-US" sz="45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Nhận dạng</a:t>
              </a:r>
            </a:p>
            <a:p>
              <a:pPr algn="ctr">
                <a:lnSpc>
                  <a:spcPts val="5400"/>
                </a:lnSpc>
                <a:spcBef>
                  <a:spcPct val="0"/>
                </a:spcBef>
              </a:pPr>
              <a:r>
                <a:rPr lang="en-US" sz="45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biển số xe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524" y="-458864"/>
            <a:ext cx="18076952" cy="11799059"/>
          </a:xfrm>
          <a:custGeom>
            <a:avLst/>
            <a:gdLst/>
            <a:ahLst/>
            <a:cxnLst/>
            <a:rect l="l" t="t" r="r" b="b"/>
            <a:pathLst>
              <a:path w="18076952" h="11799059">
                <a:moveTo>
                  <a:pt x="0" y="0"/>
                </a:moveTo>
                <a:lnTo>
                  <a:pt x="18076952" y="0"/>
                </a:lnTo>
                <a:lnTo>
                  <a:pt x="18076952" y="11799059"/>
                </a:lnTo>
                <a:lnTo>
                  <a:pt x="0" y="117990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2333611"/>
            <a:ext cx="16020941" cy="680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0" lvl="1" indent="-518160" algn="just">
              <a:lnSpc>
                <a:spcPts val="9119"/>
              </a:lnSpc>
              <a:buAutoNum type="arabicPeriod"/>
            </a:pPr>
            <a:r>
              <a:rPr lang="en-US" sz="4800">
                <a:solidFill>
                  <a:srgbClr val="0E2A47"/>
                </a:solidFill>
                <a:latin typeface="Open Sans"/>
                <a:ea typeface="Open Sans"/>
                <a:cs typeface="Open Sans"/>
                <a:sym typeface="Open Sans"/>
              </a:rPr>
              <a:t>Tập trung nghiên cứu và phát triển mô hình xác định văn bản trong ảnh, sử dụng phương pháp máy học.</a:t>
            </a:r>
          </a:p>
          <a:p>
            <a:pPr marL="1036320" lvl="1" indent="-518160" algn="just">
              <a:lnSpc>
                <a:spcPts val="9119"/>
              </a:lnSpc>
              <a:buAutoNum type="arabicPeriod"/>
            </a:pPr>
            <a:r>
              <a:rPr lang="en-US" sz="4800">
                <a:solidFill>
                  <a:srgbClr val="0E2A47"/>
                </a:solidFill>
                <a:latin typeface="Open Sans"/>
                <a:ea typeface="Open Sans"/>
                <a:cs typeface="Open Sans"/>
                <a:sym typeface="Open Sans"/>
              </a:rPr>
              <a:t>Được huấn luyện để đánh giá độ chính xác dựa trên:</a:t>
            </a:r>
          </a:p>
          <a:p>
            <a:pPr marL="2072640" lvl="2" indent="-690880" algn="just">
              <a:lnSpc>
                <a:spcPts val="9119"/>
              </a:lnSpc>
              <a:buFont typeface="Arial"/>
              <a:buChar char="⚬"/>
            </a:pPr>
            <a:r>
              <a:rPr lang="en-US" sz="4800">
                <a:solidFill>
                  <a:srgbClr val="0E2A47"/>
                </a:solidFill>
                <a:latin typeface="Open Sans"/>
                <a:ea typeface="Open Sans"/>
                <a:cs typeface="Open Sans"/>
                <a:sym typeface="Open Sans"/>
              </a:rPr>
              <a:t>Thang đo đánh giá.</a:t>
            </a:r>
          </a:p>
          <a:p>
            <a:pPr marL="2072640" lvl="2" indent="-690880" algn="just">
              <a:lnSpc>
                <a:spcPts val="9119"/>
              </a:lnSpc>
              <a:buFont typeface="Arial"/>
              <a:buChar char="⚬"/>
            </a:pPr>
            <a:r>
              <a:rPr lang="en-US" sz="4800">
                <a:solidFill>
                  <a:srgbClr val="0E2A47"/>
                </a:solidFill>
                <a:latin typeface="Open Sans"/>
                <a:ea typeface="Open Sans"/>
                <a:cs typeface="Open Sans"/>
                <a:sym typeface="Open Sans"/>
              </a:rPr>
              <a:t>Trích xuất văn bản từ ảnh thành tập văn bản (có đuôi là .txt).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3445" y="490537"/>
            <a:ext cx="1522515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40"/>
              </a:lnSpc>
            </a:pPr>
            <a:r>
              <a:rPr lang="en-US" sz="6700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XÁC ĐỊNH VĂN BẢN TRONG ẢNH?</a:t>
            </a:r>
          </a:p>
        </p:txBody>
      </p:sp>
    </p:spTree>
  </p:cSld>
  <p:clrMapOvr>
    <a:masterClrMapping/>
  </p:clrMapOvr>
  <p:transition>
    <p:cover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85549" y="728585"/>
            <a:ext cx="14458974" cy="1406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LÝ DO CHỌN ĐỀ TÀI</a:t>
            </a:r>
          </a:p>
        </p:txBody>
      </p:sp>
      <p:sp>
        <p:nvSpPr>
          <p:cNvPr id="3" name="Freeform 3"/>
          <p:cNvSpPr/>
          <p:nvPr/>
        </p:nvSpPr>
        <p:spPr>
          <a:xfrm>
            <a:off x="14700691" y="-8553137"/>
            <a:ext cx="8310338" cy="12220432"/>
          </a:xfrm>
          <a:custGeom>
            <a:avLst/>
            <a:gdLst/>
            <a:ahLst/>
            <a:cxnLst/>
            <a:rect l="l" t="t" r="r" b="b"/>
            <a:pathLst>
              <a:path w="8310338" h="12220432">
                <a:moveTo>
                  <a:pt x="0" y="0"/>
                </a:moveTo>
                <a:lnTo>
                  <a:pt x="8310338" y="0"/>
                </a:lnTo>
                <a:lnTo>
                  <a:pt x="8310338" y="12220432"/>
                </a:lnTo>
                <a:lnTo>
                  <a:pt x="0" y="12220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5400000">
            <a:off x="-5122329" y="6395449"/>
            <a:ext cx="8310338" cy="12220432"/>
          </a:xfrm>
          <a:custGeom>
            <a:avLst/>
            <a:gdLst/>
            <a:ahLst/>
            <a:cxnLst/>
            <a:rect l="l" t="t" r="r" b="b"/>
            <a:pathLst>
              <a:path w="8310338" h="12220432">
                <a:moveTo>
                  <a:pt x="0" y="0"/>
                </a:moveTo>
                <a:lnTo>
                  <a:pt x="8310338" y="0"/>
                </a:lnTo>
                <a:lnTo>
                  <a:pt x="8310338" y="12220432"/>
                </a:lnTo>
                <a:lnTo>
                  <a:pt x="0" y="12220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2322712" y="3494701"/>
            <a:ext cx="1970255" cy="1974195"/>
          </a:xfrm>
          <a:custGeom>
            <a:avLst/>
            <a:gdLst/>
            <a:ahLst/>
            <a:cxnLst/>
            <a:rect l="l" t="t" r="r" b="b"/>
            <a:pathLst>
              <a:path w="1970255" h="1974195">
                <a:moveTo>
                  <a:pt x="0" y="0"/>
                </a:moveTo>
                <a:lnTo>
                  <a:pt x="1970255" y="0"/>
                </a:lnTo>
                <a:lnTo>
                  <a:pt x="1970255" y="1974195"/>
                </a:lnTo>
                <a:lnTo>
                  <a:pt x="0" y="19741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029908" y="3411452"/>
            <a:ext cx="1970255" cy="1974195"/>
          </a:xfrm>
          <a:custGeom>
            <a:avLst/>
            <a:gdLst/>
            <a:ahLst/>
            <a:cxnLst/>
            <a:rect l="l" t="t" r="r" b="b"/>
            <a:pathLst>
              <a:path w="1970255" h="1974195">
                <a:moveTo>
                  <a:pt x="0" y="0"/>
                </a:moveTo>
                <a:lnTo>
                  <a:pt x="1970255" y="0"/>
                </a:lnTo>
                <a:lnTo>
                  <a:pt x="1970255" y="1974195"/>
                </a:lnTo>
                <a:lnTo>
                  <a:pt x="0" y="19741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3737104" y="3494701"/>
            <a:ext cx="1970255" cy="1974195"/>
          </a:xfrm>
          <a:custGeom>
            <a:avLst/>
            <a:gdLst/>
            <a:ahLst/>
            <a:cxnLst/>
            <a:rect l="l" t="t" r="r" b="b"/>
            <a:pathLst>
              <a:path w="1970255" h="1974195">
                <a:moveTo>
                  <a:pt x="0" y="0"/>
                </a:moveTo>
                <a:lnTo>
                  <a:pt x="1970255" y="0"/>
                </a:lnTo>
                <a:lnTo>
                  <a:pt x="1970255" y="1974195"/>
                </a:lnTo>
                <a:lnTo>
                  <a:pt x="0" y="19741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322712" y="3986498"/>
            <a:ext cx="1970255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61837" y="3893724"/>
            <a:ext cx="706398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99"/>
              </a:lnSpc>
              <a:spcBef>
                <a:spcPct val="0"/>
              </a:spcBef>
            </a:pPr>
            <a:r>
              <a:rPr lang="en-US" sz="4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369033" y="3976973"/>
            <a:ext cx="706398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99"/>
              </a:lnSpc>
              <a:spcBef>
                <a:spcPct val="0"/>
              </a:spcBef>
            </a:pPr>
            <a:r>
              <a:rPr lang="en-US" sz="4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86450" y="5919713"/>
            <a:ext cx="3842780" cy="1795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6"/>
              </a:lnSpc>
              <a:spcBef>
                <a:spcPct val="0"/>
              </a:spcBef>
            </a:pPr>
            <a:r>
              <a:rPr lang="en-US" sz="5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Ứng dụng thực tiễn cao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42913" y="5932158"/>
            <a:ext cx="4358638" cy="1795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5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Xu hướng công nghệ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81916" y="5932158"/>
            <a:ext cx="3866238" cy="1783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3"/>
              </a:lnSpc>
            </a:pPr>
            <a:r>
              <a:rPr lang="en-US" sz="5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Thách thức vừa phải</a:t>
            </a:r>
          </a:p>
        </p:txBody>
      </p:sp>
    </p:spTree>
  </p:cSld>
  <p:clrMapOvr>
    <a:masterClrMapping/>
  </p:clrMapOvr>
  <p:transition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22902" y="-501156"/>
            <a:ext cx="19333804" cy="11289313"/>
          </a:xfrm>
          <a:custGeom>
            <a:avLst/>
            <a:gdLst/>
            <a:ahLst/>
            <a:cxnLst/>
            <a:rect l="l" t="t" r="r" b="b"/>
            <a:pathLst>
              <a:path w="19333804" h="11289313">
                <a:moveTo>
                  <a:pt x="0" y="0"/>
                </a:moveTo>
                <a:lnTo>
                  <a:pt x="19333804" y="0"/>
                </a:lnTo>
                <a:lnTo>
                  <a:pt x="19333804" y="11289312"/>
                </a:lnTo>
                <a:lnTo>
                  <a:pt x="0" y="11289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784761" y="3187330"/>
            <a:ext cx="1956170" cy="1972331"/>
            <a:chOff x="0" y="0"/>
            <a:chExt cx="812800" cy="8195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9515"/>
            </a:xfrm>
            <a:custGeom>
              <a:avLst/>
              <a:gdLst/>
              <a:ahLst/>
              <a:cxnLst/>
              <a:rect l="l" t="t" r="r" b="b"/>
              <a:pathLst>
                <a:path w="812800" h="819515">
                  <a:moveTo>
                    <a:pt x="406400" y="0"/>
                  </a:moveTo>
                  <a:cubicBezTo>
                    <a:pt x="181951" y="0"/>
                    <a:pt x="0" y="183455"/>
                    <a:pt x="0" y="409757"/>
                  </a:cubicBezTo>
                  <a:cubicBezTo>
                    <a:pt x="0" y="636060"/>
                    <a:pt x="181951" y="819515"/>
                    <a:pt x="406400" y="819515"/>
                  </a:cubicBezTo>
                  <a:cubicBezTo>
                    <a:pt x="630849" y="819515"/>
                    <a:pt x="812800" y="636060"/>
                    <a:pt x="812800" y="409757"/>
                  </a:cubicBezTo>
                  <a:cubicBezTo>
                    <a:pt x="812800" y="18345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68DA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76830"/>
              <a:ext cx="660400" cy="665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399"/>
                </a:lnSpc>
              </a:pPr>
              <a:r>
                <a:rPr lang="en-US" sz="6999">
                  <a:solidFill>
                    <a:srgbClr val="19599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31425" y="645597"/>
            <a:ext cx="15225150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MỤC TIÊU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66172" y="5684520"/>
            <a:ext cx="4393350" cy="2053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80"/>
              </a:lnSpc>
            </a:pPr>
            <a:r>
              <a:rPr lang="en-US" sz="600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Mô hình</a:t>
            </a:r>
          </a:p>
          <a:p>
            <a:pPr algn="ctr">
              <a:lnSpc>
                <a:spcPts val="8280"/>
              </a:lnSpc>
            </a:pPr>
            <a:r>
              <a:rPr lang="en-US" sz="600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phù hợp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94346" y="5684520"/>
            <a:ext cx="5099308" cy="2053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80"/>
              </a:lnSpc>
            </a:pPr>
            <a:r>
              <a:rPr lang="en-US" sz="600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So sánh</a:t>
            </a:r>
          </a:p>
          <a:p>
            <a:pPr algn="ctr">
              <a:lnSpc>
                <a:spcPts val="8280"/>
              </a:lnSpc>
            </a:pPr>
            <a:r>
              <a:rPr lang="en-US" sz="600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các mô hình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528765" y="5684520"/>
            <a:ext cx="4393350" cy="2053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80"/>
              </a:lnSpc>
            </a:pPr>
            <a:r>
              <a:rPr lang="en-US" sz="600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Khả năng</a:t>
            </a:r>
          </a:p>
          <a:p>
            <a:pPr algn="ctr">
              <a:lnSpc>
                <a:spcPts val="8280"/>
              </a:lnSpc>
            </a:pPr>
            <a:r>
              <a:rPr lang="en-US" sz="600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ứng dụng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165915" y="3187330"/>
            <a:ext cx="1956170" cy="1972331"/>
            <a:chOff x="0" y="0"/>
            <a:chExt cx="812800" cy="8195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9515"/>
            </a:xfrm>
            <a:custGeom>
              <a:avLst/>
              <a:gdLst/>
              <a:ahLst/>
              <a:cxnLst/>
              <a:rect l="l" t="t" r="r" b="b"/>
              <a:pathLst>
                <a:path w="812800" h="819515">
                  <a:moveTo>
                    <a:pt x="406400" y="0"/>
                  </a:moveTo>
                  <a:cubicBezTo>
                    <a:pt x="181951" y="0"/>
                    <a:pt x="0" y="183455"/>
                    <a:pt x="0" y="409757"/>
                  </a:cubicBezTo>
                  <a:cubicBezTo>
                    <a:pt x="0" y="636060"/>
                    <a:pt x="181951" y="819515"/>
                    <a:pt x="406400" y="819515"/>
                  </a:cubicBezTo>
                  <a:cubicBezTo>
                    <a:pt x="630849" y="819515"/>
                    <a:pt x="812800" y="636060"/>
                    <a:pt x="812800" y="409757"/>
                  </a:cubicBezTo>
                  <a:cubicBezTo>
                    <a:pt x="812800" y="18345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68DA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76830"/>
              <a:ext cx="660400" cy="665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399"/>
                </a:lnSpc>
              </a:pPr>
              <a:r>
                <a:rPr lang="en-US" sz="6999">
                  <a:solidFill>
                    <a:srgbClr val="19599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581815" y="3187330"/>
            <a:ext cx="1956170" cy="1972331"/>
            <a:chOff x="0" y="0"/>
            <a:chExt cx="812800" cy="81951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9515"/>
            </a:xfrm>
            <a:custGeom>
              <a:avLst/>
              <a:gdLst/>
              <a:ahLst/>
              <a:cxnLst/>
              <a:rect l="l" t="t" r="r" b="b"/>
              <a:pathLst>
                <a:path w="812800" h="819515">
                  <a:moveTo>
                    <a:pt x="406400" y="0"/>
                  </a:moveTo>
                  <a:cubicBezTo>
                    <a:pt x="181951" y="0"/>
                    <a:pt x="0" y="183455"/>
                    <a:pt x="0" y="409757"/>
                  </a:cubicBezTo>
                  <a:cubicBezTo>
                    <a:pt x="0" y="636060"/>
                    <a:pt x="181951" y="819515"/>
                    <a:pt x="406400" y="819515"/>
                  </a:cubicBezTo>
                  <a:cubicBezTo>
                    <a:pt x="630849" y="819515"/>
                    <a:pt x="812800" y="636060"/>
                    <a:pt x="812800" y="409757"/>
                  </a:cubicBezTo>
                  <a:cubicBezTo>
                    <a:pt x="812800" y="18345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68DA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76830"/>
              <a:ext cx="660400" cy="665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399"/>
                </a:lnSpc>
              </a:pPr>
              <a:r>
                <a:rPr lang="en-US" sz="6999">
                  <a:solidFill>
                    <a:srgbClr val="19599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03164" y="877400"/>
            <a:ext cx="15225150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sz="8499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MÔ TẢ BÀI TOÁN</a:t>
            </a:r>
          </a:p>
        </p:txBody>
      </p:sp>
      <p:grpSp>
        <p:nvGrpSpPr>
          <p:cNvPr id="3" name="Group 3"/>
          <p:cNvGrpSpPr/>
          <p:nvPr/>
        </p:nvGrpSpPr>
        <p:grpSpPr>
          <a:xfrm rot="-557596">
            <a:off x="15411638" y="-1493886"/>
            <a:ext cx="3695324" cy="5446308"/>
            <a:chOff x="0" y="0"/>
            <a:chExt cx="4927099" cy="72617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87360" cy="2632456"/>
            </a:xfrm>
            <a:custGeom>
              <a:avLst/>
              <a:gdLst/>
              <a:ahLst/>
              <a:cxnLst/>
              <a:rect l="l" t="t" r="r" b="b"/>
              <a:pathLst>
                <a:path w="2287360" h="2632456">
                  <a:moveTo>
                    <a:pt x="0" y="0"/>
                  </a:moveTo>
                  <a:lnTo>
                    <a:pt x="2287360" y="0"/>
                  </a:lnTo>
                  <a:lnTo>
                    <a:pt x="2287360" y="2632456"/>
                  </a:lnTo>
                  <a:lnTo>
                    <a:pt x="0" y="2632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547512" y="4629288"/>
              <a:ext cx="2287360" cy="2632456"/>
            </a:xfrm>
            <a:custGeom>
              <a:avLst/>
              <a:gdLst/>
              <a:ahLst/>
              <a:cxnLst/>
              <a:rect l="l" t="t" r="r" b="b"/>
              <a:pathLst>
                <a:path w="2287360" h="2632456">
                  <a:moveTo>
                    <a:pt x="0" y="0"/>
                  </a:moveTo>
                  <a:lnTo>
                    <a:pt x="2287360" y="0"/>
                  </a:lnTo>
                  <a:lnTo>
                    <a:pt x="2287360" y="2632456"/>
                  </a:lnTo>
                  <a:lnTo>
                    <a:pt x="0" y="2632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2639739" y="3307067"/>
              <a:ext cx="2287360" cy="2632456"/>
            </a:xfrm>
            <a:custGeom>
              <a:avLst/>
              <a:gdLst/>
              <a:ahLst/>
              <a:cxnLst/>
              <a:rect l="l" t="t" r="r" b="b"/>
              <a:pathLst>
                <a:path w="2287360" h="2632456">
                  <a:moveTo>
                    <a:pt x="0" y="0"/>
                  </a:moveTo>
                  <a:lnTo>
                    <a:pt x="2287360" y="0"/>
                  </a:lnTo>
                  <a:lnTo>
                    <a:pt x="2287360" y="2632456"/>
                  </a:lnTo>
                  <a:lnTo>
                    <a:pt x="0" y="2632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212939" y="1004821"/>
              <a:ext cx="2287360" cy="2632456"/>
            </a:xfrm>
            <a:custGeom>
              <a:avLst/>
              <a:gdLst/>
              <a:ahLst/>
              <a:cxnLst/>
              <a:rect l="l" t="t" r="r" b="b"/>
              <a:pathLst>
                <a:path w="2287360" h="2632456">
                  <a:moveTo>
                    <a:pt x="0" y="0"/>
                  </a:moveTo>
                  <a:lnTo>
                    <a:pt x="2287360" y="0"/>
                  </a:lnTo>
                  <a:lnTo>
                    <a:pt x="2287360" y="2632456"/>
                  </a:lnTo>
                  <a:lnTo>
                    <a:pt x="0" y="2632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 rot="1400170">
            <a:off x="-590969" y="-1718953"/>
            <a:ext cx="3587066" cy="5446308"/>
            <a:chOff x="0" y="0"/>
            <a:chExt cx="4782755" cy="7261744"/>
          </a:xfrm>
        </p:grpSpPr>
        <p:sp>
          <p:nvSpPr>
            <p:cNvPr id="9" name="Freeform 9"/>
            <p:cNvSpPr/>
            <p:nvPr/>
          </p:nvSpPr>
          <p:spPr>
            <a:xfrm>
              <a:off x="1092227" y="4629288"/>
              <a:ext cx="2287360" cy="2632456"/>
            </a:xfrm>
            <a:custGeom>
              <a:avLst/>
              <a:gdLst/>
              <a:ahLst/>
              <a:cxnLst/>
              <a:rect l="l" t="t" r="r" b="b"/>
              <a:pathLst>
                <a:path w="2287360" h="2632456">
                  <a:moveTo>
                    <a:pt x="0" y="0"/>
                  </a:moveTo>
                  <a:lnTo>
                    <a:pt x="2287360" y="0"/>
                  </a:lnTo>
                  <a:lnTo>
                    <a:pt x="2287360" y="2632456"/>
                  </a:lnTo>
                  <a:lnTo>
                    <a:pt x="0" y="2632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3307067"/>
              <a:ext cx="2287360" cy="2632456"/>
            </a:xfrm>
            <a:custGeom>
              <a:avLst/>
              <a:gdLst/>
              <a:ahLst/>
              <a:cxnLst/>
              <a:rect l="l" t="t" r="r" b="b"/>
              <a:pathLst>
                <a:path w="2287360" h="2632456">
                  <a:moveTo>
                    <a:pt x="0" y="0"/>
                  </a:moveTo>
                  <a:lnTo>
                    <a:pt x="2287360" y="0"/>
                  </a:lnTo>
                  <a:lnTo>
                    <a:pt x="2287360" y="2632456"/>
                  </a:lnTo>
                  <a:lnTo>
                    <a:pt x="0" y="2632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495395" y="0"/>
              <a:ext cx="2287360" cy="2632456"/>
            </a:xfrm>
            <a:custGeom>
              <a:avLst/>
              <a:gdLst/>
              <a:ahLst/>
              <a:cxnLst/>
              <a:rect l="l" t="t" r="r" b="b"/>
              <a:pathLst>
                <a:path w="2287360" h="2632456">
                  <a:moveTo>
                    <a:pt x="0" y="0"/>
                  </a:moveTo>
                  <a:lnTo>
                    <a:pt x="2287360" y="0"/>
                  </a:lnTo>
                  <a:lnTo>
                    <a:pt x="2287360" y="2632456"/>
                  </a:lnTo>
                  <a:lnTo>
                    <a:pt x="0" y="2632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426800" y="1004821"/>
              <a:ext cx="2287360" cy="2632456"/>
            </a:xfrm>
            <a:custGeom>
              <a:avLst/>
              <a:gdLst/>
              <a:ahLst/>
              <a:cxnLst/>
              <a:rect l="l" t="t" r="r" b="b"/>
              <a:pathLst>
                <a:path w="2287360" h="2632456">
                  <a:moveTo>
                    <a:pt x="0" y="0"/>
                  </a:moveTo>
                  <a:lnTo>
                    <a:pt x="2287360" y="0"/>
                  </a:lnTo>
                  <a:lnTo>
                    <a:pt x="2287360" y="2632456"/>
                  </a:lnTo>
                  <a:lnTo>
                    <a:pt x="0" y="2632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414813" y="4387967"/>
            <a:ext cx="4678486" cy="3086100"/>
            <a:chOff x="0" y="0"/>
            <a:chExt cx="1232194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32194" cy="812800"/>
            </a:xfrm>
            <a:custGeom>
              <a:avLst/>
              <a:gdLst/>
              <a:ahLst/>
              <a:cxnLst/>
              <a:rect l="l" t="t" r="r" b="b"/>
              <a:pathLst>
                <a:path w="1232194" h="812800">
                  <a:moveTo>
                    <a:pt x="84394" y="0"/>
                  </a:moveTo>
                  <a:lnTo>
                    <a:pt x="1147800" y="0"/>
                  </a:lnTo>
                  <a:cubicBezTo>
                    <a:pt x="1194409" y="0"/>
                    <a:pt x="1232194" y="37785"/>
                    <a:pt x="1232194" y="84394"/>
                  </a:cubicBezTo>
                  <a:lnTo>
                    <a:pt x="1232194" y="728406"/>
                  </a:lnTo>
                  <a:cubicBezTo>
                    <a:pt x="1232194" y="750788"/>
                    <a:pt x="1223302" y="772254"/>
                    <a:pt x="1207475" y="788081"/>
                  </a:cubicBezTo>
                  <a:cubicBezTo>
                    <a:pt x="1191648" y="803908"/>
                    <a:pt x="1170182" y="812800"/>
                    <a:pt x="1147800" y="812800"/>
                  </a:cubicBezTo>
                  <a:lnTo>
                    <a:pt x="84394" y="812800"/>
                  </a:lnTo>
                  <a:cubicBezTo>
                    <a:pt x="37785" y="812800"/>
                    <a:pt x="0" y="775015"/>
                    <a:pt x="0" y="728406"/>
                  </a:cubicBezTo>
                  <a:lnTo>
                    <a:pt x="0" y="84394"/>
                  </a:lnTo>
                  <a:cubicBezTo>
                    <a:pt x="0" y="37785"/>
                    <a:pt x="37785" y="0"/>
                    <a:pt x="84394" y="0"/>
                  </a:cubicBezTo>
                  <a:close/>
                </a:path>
              </a:pathLst>
            </a:custGeom>
            <a:solidFill>
              <a:srgbClr val="9FCB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232194" cy="812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Nhận dạng</a:t>
              </a:r>
            </a:p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ký tự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01456" y="4387967"/>
            <a:ext cx="4594677" cy="3086100"/>
            <a:chOff x="0" y="0"/>
            <a:chExt cx="1210121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10121" cy="812800"/>
            </a:xfrm>
            <a:custGeom>
              <a:avLst/>
              <a:gdLst/>
              <a:ahLst/>
              <a:cxnLst/>
              <a:rect l="l" t="t" r="r" b="b"/>
              <a:pathLst>
                <a:path w="1210121" h="812800">
                  <a:moveTo>
                    <a:pt x="85934" y="0"/>
                  </a:moveTo>
                  <a:lnTo>
                    <a:pt x="1124187" y="0"/>
                  </a:lnTo>
                  <a:cubicBezTo>
                    <a:pt x="1146978" y="0"/>
                    <a:pt x="1168835" y="9054"/>
                    <a:pt x="1184951" y="25169"/>
                  </a:cubicBezTo>
                  <a:cubicBezTo>
                    <a:pt x="1201067" y="41285"/>
                    <a:pt x="1210121" y="63143"/>
                    <a:pt x="1210121" y="85934"/>
                  </a:cubicBezTo>
                  <a:lnTo>
                    <a:pt x="1210121" y="726866"/>
                  </a:lnTo>
                  <a:cubicBezTo>
                    <a:pt x="1210121" y="749657"/>
                    <a:pt x="1201067" y="771515"/>
                    <a:pt x="1184951" y="787631"/>
                  </a:cubicBezTo>
                  <a:cubicBezTo>
                    <a:pt x="1168835" y="803746"/>
                    <a:pt x="1146978" y="812800"/>
                    <a:pt x="1124187" y="812800"/>
                  </a:cubicBezTo>
                  <a:lnTo>
                    <a:pt x="85934" y="812800"/>
                  </a:lnTo>
                  <a:cubicBezTo>
                    <a:pt x="63143" y="812800"/>
                    <a:pt x="41285" y="803746"/>
                    <a:pt x="25169" y="787631"/>
                  </a:cubicBezTo>
                  <a:cubicBezTo>
                    <a:pt x="9054" y="771515"/>
                    <a:pt x="0" y="749657"/>
                    <a:pt x="0" y="726866"/>
                  </a:cubicBezTo>
                  <a:lnTo>
                    <a:pt x="0" y="85934"/>
                  </a:lnTo>
                  <a:cubicBezTo>
                    <a:pt x="0" y="63143"/>
                    <a:pt x="9054" y="41285"/>
                    <a:pt x="25169" y="25169"/>
                  </a:cubicBezTo>
                  <a:cubicBezTo>
                    <a:pt x="41285" y="9054"/>
                    <a:pt x="63143" y="0"/>
                    <a:pt x="85934" y="0"/>
                  </a:cubicBezTo>
                  <a:close/>
                </a:path>
              </a:pathLst>
            </a:custGeom>
            <a:solidFill>
              <a:srgbClr val="9FCB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1210121" cy="812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Xử lý</a:t>
              </a:r>
            </a:p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văn bản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 rot="-4388088">
            <a:off x="-991815" y="6535146"/>
            <a:ext cx="3587066" cy="5446308"/>
            <a:chOff x="0" y="0"/>
            <a:chExt cx="4782755" cy="7261744"/>
          </a:xfrm>
        </p:grpSpPr>
        <p:sp>
          <p:nvSpPr>
            <p:cNvPr id="20" name="Freeform 20"/>
            <p:cNvSpPr/>
            <p:nvPr/>
          </p:nvSpPr>
          <p:spPr>
            <a:xfrm>
              <a:off x="1092227" y="4629288"/>
              <a:ext cx="2287360" cy="2632456"/>
            </a:xfrm>
            <a:custGeom>
              <a:avLst/>
              <a:gdLst/>
              <a:ahLst/>
              <a:cxnLst/>
              <a:rect l="l" t="t" r="r" b="b"/>
              <a:pathLst>
                <a:path w="2287360" h="2632456">
                  <a:moveTo>
                    <a:pt x="0" y="0"/>
                  </a:moveTo>
                  <a:lnTo>
                    <a:pt x="2287360" y="0"/>
                  </a:lnTo>
                  <a:lnTo>
                    <a:pt x="2287360" y="2632456"/>
                  </a:lnTo>
                  <a:lnTo>
                    <a:pt x="0" y="2632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3307067"/>
              <a:ext cx="2287360" cy="2632456"/>
            </a:xfrm>
            <a:custGeom>
              <a:avLst/>
              <a:gdLst/>
              <a:ahLst/>
              <a:cxnLst/>
              <a:rect l="l" t="t" r="r" b="b"/>
              <a:pathLst>
                <a:path w="2287360" h="2632456">
                  <a:moveTo>
                    <a:pt x="0" y="0"/>
                  </a:moveTo>
                  <a:lnTo>
                    <a:pt x="2287360" y="0"/>
                  </a:lnTo>
                  <a:lnTo>
                    <a:pt x="2287360" y="2632456"/>
                  </a:lnTo>
                  <a:lnTo>
                    <a:pt x="0" y="2632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2495395" y="0"/>
              <a:ext cx="2287360" cy="2632456"/>
            </a:xfrm>
            <a:custGeom>
              <a:avLst/>
              <a:gdLst/>
              <a:ahLst/>
              <a:cxnLst/>
              <a:rect l="l" t="t" r="r" b="b"/>
              <a:pathLst>
                <a:path w="2287360" h="2632456">
                  <a:moveTo>
                    <a:pt x="0" y="0"/>
                  </a:moveTo>
                  <a:lnTo>
                    <a:pt x="2287360" y="0"/>
                  </a:lnTo>
                  <a:lnTo>
                    <a:pt x="2287360" y="2632456"/>
                  </a:lnTo>
                  <a:lnTo>
                    <a:pt x="0" y="2632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1426800" y="1004821"/>
              <a:ext cx="2287360" cy="2632456"/>
            </a:xfrm>
            <a:custGeom>
              <a:avLst/>
              <a:gdLst/>
              <a:ahLst/>
              <a:cxnLst/>
              <a:rect l="l" t="t" r="r" b="b"/>
              <a:pathLst>
                <a:path w="2287360" h="2632456">
                  <a:moveTo>
                    <a:pt x="0" y="0"/>
                  </a:moveTo>
                  <a:lnTo>
                    <a:pt x="2287360" y="0"/>
                  </a:lnTo>
                  <a:lnTo>
                    <a:pt x="2287360" y="2632456"/>
                  </a:lnTo>
                  <a:lnTo>
                    <a:pt x="0" y="2632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 rot="3285551">
            <a:off x="15411638" y="6288210"/>
            <a:ext cx="3695324" cy="5446308"/>
            <a:chOff x="0" y="0"/>
            <a:chExt cx="4927099" cy="726174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87360" cy="2632456"/>
            </a:xfrm>
            <a:custGeom>
              <a:avLst/>
              <a:gdLst/>
              <a:ahLst/>
              <a:cxnLst/>
              <a:rect l="l" t="t" r="r" b="b"/>
              <a:pathLst>
                <a:path w="2287360" h="2632456">
                  <a:moveTo>
                    <a:pt x="0" y="0"/>
                  </a:moveTo>
                  <a:lnTo>
                    <a:pt x="2287360" y="0"/>
                  </a:lnTo>
                  <a:lnTo>
                    <a:pt x="2287360" y="2632456"/>
                  </a:lnTo>
                  <a:lnTo>
                    <a:pt x="0" y="2632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547512" y="4629288"/>
              <a:ext cx="2287360" cy="2632456"/>
            </a:xfrm>
            <a:custGeom>
              <a:avLst/>
              <a:gdLst/>
              <a:ahLst/>
              <a:cxnLst/>
              <a:rect l="l" t="t" r="r" b="b"/>
              <a:pathLst>
                <a:path w="2287360" h="2632456">
                  <a:moveTo>
                    <a:pt x="0" y="0"/>
                  </a:moveTo>
                  <a:lnTo>
                    <a:pt x="2287360" y="0"/>
                  </a:lnTo>
                  <a:lnTo>
                    <a:pt x="2287360" y="2632456"/>
                  </a:lnTo>
                  <a:lnTo>
                    <a:pt x="0" y="2632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2639739" y="3307067"/>
              <a:ext cx="2287360" cy="2632456"/>
            </a:xfrm>
            <a:custGeom>
              <a:avLst/>
              <a:gdLst/>
              <a:ahLst/>
              <a:cxnLst/>
              <a:rect l="l" t="t" r="r" b="b"/>
              <a:pathLst>
                <a:path w="2287360" h="2632456">
                  <a:moveTo>
                    <a:pt x="0" y="0"/>
                  </a:moveTo>
                  <a:lnTo>
                    <a:pt x="2287360" y="0"/>
                  </a:lnTo>
                  <a:lnTo>
                    <a:pt x="2287360" y="2632456"/>
                  </a:lnTo>
                  <a:lnTo>
                    <a:pt x="0" y="2632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1212939" y="1004821"/>
              <a:ext cx="2287360" cy="2632456"/>
            </a:xfrm>
            <a:custGeom>
              <a:avLst/>
              <a:gdLst/>
              <a:ahLst/>
              <a:cxnLst/>
              <a:rect l="l" t="t" r="r" b="b"/>
              <a:pathLst>
                <a:path w="2287360" h="2632456">
                  <a:moveTo>
                    <a:pt x="0" y="0"/>
                  </a:moveTo>
                  <a:lnTo>
                    <a:pt x="2287360" y="0"/>
                  </a:lnTo>
                  <a:lnTo>
                    <a:pt x="2287360" y="2632456"/>
                  </a:lnTo>
                  <a:lnTo>
                    <a:pt x="0" y="2632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9216" y="-1026730"/>
            <a:ext cx="18906440" cy="12340476"/>
          </a:xfrm>
          <a:custGeom>
            <a:avLst/>
            <a:gdLst/>
            <a:ahLst/>
            <a:cxnLst/>
            <a:rect l="l" t="t" r="r" b="b"/>
            <a:pathLst>
              <a:path w="18906440" h="12340476">
                <a:moveTo>
                  <a:pt x="0" y="0"/>
                </a:moveTo>
                <a:lnTo>
                  <a:pt x="18906440" y="0"/>
                </a:lnTo>
                <a:lnTo>
                  <a:pt x="18906440" y="12340476"/>
                </a:lnTo>
                <a:lnTo>
                  <a:pt x="0" y="123404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531429" y="737717"/>
            <a:ext cx="15225150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QUY TRÌNH NHẬN DẠNG KÝ TỰ</a:t>
            </a:r>
          </a:p>
        </p:txBody>
      </p:sp>
      <p:sp>
        <p:nvSpPr>
          <p:cNvPr id="4" name="Freeform 4"/>
          <p:cNvSpPr/>
          <p:nvPr/>
        </p:nvSpPr>
        <p:spPr>
          <a:xfrm>
            <a:off x="2131961" y="3476608"/>
            <a:ext cx="1970255" cy="1974195"/>
          </a:xfrm>
          <a:custGeom>
            <a:avLst/>
            <a:gdLst/>
            <a:ahLst/>
            <a:cxnLst/>
            <a:rect l="l" t="t" r="r" b="b"/>
            <a:pathLst>
              <a:path w="1970255" h="1974195">
                <a:moveTo>
                  <a:pt x="0" y="0"/>
                </a:moveTo>
                <a:lnTo>
                  <a:pt x="1970255" y="0"/>
                </a:lnTo>
                <a:lnTo>
                  <a:pt x="1970255" y="1974195"/>
                </a:lnTo>
                <a:lnTo>
                  <a:pt x="0" y="19741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V="1">
            <a:off x="4102216" y="4463705"/>
            <a:ext cx="2349886" cy="0"/>
          </a:xfrm>
          <a:prstGeom prst="line">
            <a:avLst/>
          </a:prstGeom>
          <a:ln w="47625" cap="rnd">
            <a:solidFill>
              <a:srgbClr val="000B5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452101" y="3452795"/>
            <a:ext cx="1970255" cy="1974195"/>
          </a:xfrm>
          <a:custGeom>
            <a:avLst/>
            <a:gdLst/>
            <a:ahLst/>
            <a:cxnLst/>
            <a:rect l="l" t="t" r="r" b="b"/>
            <a:pathLst>
              <a:path w="1970255" h="1974195">
                <a:moveTo>
                  <a:pt x="0" y="0"/>
                </a:moveTo>
                <a:lnTo>
                  <a:pt x="1970255" y="0"/>
                </a:lnTo>
                <a:lnTo>
                  <a:pt x="1970255" y="1974195"/>
                </a:lnTo>
                <a:lnTo>
                  <a:pt x="0" y="19741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804112" y="3476608"/>
            <a:ext cx="1970255" cy="1974195"/>
          </a:xfrm>
          <a:custGeom>
            <a:avLst/>
            <a:gdLst/>
            <a:ahLst/>
            <a:cxnLst/>
            <a:rect l="l" t="t" r="r" b="b"/>
            <a:pathLst>
              <a:path w="1970255" h="1974195">
                <a:moveTo>
                  <a:pt x="0" y="0"/>
                </a:moveTo>
                <a:lnTo>
                  <a:pt x="1970254" y="0"/>
                </a:lnTo>
                <a:lnTo>
                  <a:pt x="1970254" y="1974195"/>
                </a:lnTo>
                <a:lnTo>
                  <a:pt x="0" y="19741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V="1">
            <a:off x="8422356" y="4416080"/>
            <a:ext cx="2381756" cy="0"/>
          </a:xfrm>
          <a:prstGeom prst="line">
            <a:avLst/>
          </a:prstGeom>
          <a:ln w="47625" cap="rnd">
            <a:solidFill>
              <a:srgbClr val="000B5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131961" y="3968405"/>
            <a:ext cx="1970255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84030" y="3935068"/>
            <a:ext cx="706398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99"/>
              </a:lnSpc>
              <a:spcBef>
                <a:spcPct val="0"/>
              </a:spcBef>
            </a:pPr>
            <a:r>
              <a:rPr lang="en-US" sz="4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6040" y="3958880"/>
            <a:ext cx="706398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99"/>
              </a:lnSpc>
              <a:spcBef>
                <a:spcPct val="0"/>
              </a:spcBef>
            </a:pPr>
            <a:r>
              <a:rPr lang="en-US" sz="4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746041" y="3428983"/>
            <a:ext cx="1970255" cy="1974195"/>
          </a:xfrm>
          <a:custGeom>
            <a:avLst/>
            <a:gdLst/>
            <a:ahLst/>
            <a:cxnLst/>
            <a:rect l="l" t="t" r="r" b="b"/>
            <a:pathLst>
              <a:path w="1970255" h="1974195">
                <a:moveTo>
                  <a:pt x="0" y="0"/>
                </a:moveTo>
                <a:lnTo>
                  <a:pt x="1970255" y="0"/>
                </a:lnTo>
                <a:lnTo>
                  <a:pt x="1970255" y="1974195"/>
                </a:lnTo>
                <a:lnTo>
                  <a:pt x="0" y="19741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5377970" y="3911255"/>
            <a:ext cx="706398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99"/>
              </a:lnSpc>
              <a:spcBef>
                <a:spcPct val="0"/>
              </a:spcBef>
            </a:pPr>
            <a:r>
              <a:rPr lang="en-US" sz="4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sp>
        <p:nvSpPr>
          <p:cNvPr id="14" name="AutoShape 14"/>
          <p:cNvSpPr/>
          <p:nvPr/>
        </p:nvSpPr>
        <p:spPr>
          <a:xfrm flipV="1">
            <a:off x="12774366" y="4392268"/>
            <a:ext cx="2381756" cy="0"/>
          </a:xfrm>
          <a:prstGeom prst="line">
            <a:avLst/>
          </a:prstGeom>
          <a:ln w="47625" cap="rnd">
            <a:solidFill>
              <a:srgbClr val="000B5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174346" y="5717030"/>
            <a:ext cx="3885486" cy="1922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89"/>
              </a:lnSpc>
            </a:pPr>
            <a:r>
              <a:rPr lang="en-US" sz="5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Thu thập</a:t>
            </a:r>
          </a:p>
          <a:p>
            <a:pPr algn="ctr">
              <a:lnSpc>
                <a:spcPts val="7589"/>
              </a:lnSpc>
              <a:spcBef>
                <a:spcPct val="0"/>
              </a:spcBef>
            </a:pPr>
            <a:r>
              <a:rPr lang="en-US" sz="5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dữ liệu ký tự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70368" y="5717030"/>
            <a:ext cx="3998032" cy="1922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89"/>
              </a:lnSpc>
            </a:pPr>
            <a:r>
              <a:rPr lang="en-US" sz="54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Tăng</a:t>
            </a:r>
            <a:r>
              <a:rPr lang="en-US" sz="54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54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cường</a:t>
            </a:r>
            <a:endParaRPr lang="en-US" sz="54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ts val="7589"/>
              </a:lnSpc>
              <a:spcBef>
                <a:spcPct val="0"/>
              </a:spcBef>
            </a:pPr>
            <a:r>
              <a:rPr lang="en-US" sz="54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dữ</a:t>
            </a:r>
            <a:r>
              <a:rPr lang="en-US" sz="54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54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liệu</a:t>
            </a:r>
            <a:endParaRPr lang="en-US" sz="54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670460" y="5717030"/>
            <a:ext cx="3702140" cy="1922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89"/>
              </a:lnSpc>
            </a:pPr>
            <a:r>
              <a:rPr lang="en-US" sz="54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Huấn</a:t>
            </a:r>
            <a:r>
              <a:rPr lang="en-US" sz="54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54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luyện</a:t>
            </a:r>
            <a:endParaRPr lang="en-US" sz="54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ts val="7589"/>
              </a:lnSpc>
              <a:spcBef>
                <a:spcPct val="0"/>
              </a:spcBef>
            </a:pPr>
            <a:r>
              <a:rPr lang="en-US" sz="54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mô</a:t>
            </a:r>
            <a:r>
              <a:rPr lang="en-US" sz="54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54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hình</a:t>
            </a:r>
            <a:endParaRPr lang="en-US" sz="54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4317710" y="5717030"/>
            <a:ext cx="2979690" cy="1922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89"/>
              </a:lnSpc>
            </a:pPr>
            <a:r>
              <a:rPr lang="en-US" sz="54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Đánh</a:t>
            </a:r>
            <a:r>
              <a:rPr lang="en-US" sz="54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54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giá</a:t>
            </a:r>
            <a:endParaRPr lang="en-US" sz="54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ts val="7589"/>
              </a:lnSpc>
              <a:spcBef>
                <a:spcPct val="0"/>
              </a:spcBef>
            </a:pPr>
            <a:r>
              <a:rPr lang="en-US" sz="54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mô</a:t>
            </a:r>
            <a:r>
              <a:rPr lang="en-US" sz="54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54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hình</a:t>
            </a:r>
            <a:endParaRPr lang="en-US" sz="54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ransition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9216" y="-1026730"/>
            <a:ext cx="18906440" cy="12340476"/>
          </a:xfrm>
          <a:custGeom>
            <a:avLst/>
            <a:gdLst/>
            <a:ahLst/>
            <a:cxnLst/>
            <a:rect l="l" t="t" r="r" b="b"/>
            <a:pathLst>
              <a:path w="18906440" h="12340476">
                <a:moveTo>
                  <a:pt x="0" y="0"/>
                </a:moveTo>
                <a:lnTo>
                  <a:pt x="18906440" y="0"/>
                </a:lnTo>
                <a:lnTo>
                  <a:pt x="18906440" y="12340476"/>
                </a:lnTo>
                <a:lnTo>
                  <a:pt x="0" y="123404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531429" y="737717"/>
            <a:ext cx="15225150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QUY TRÌNH XỬ LÝ VĂN BẢN</a:t>
            </a:r>
          </a:p>
        </p:txBody>
      </p:sp>
      <p:sp>
        <p:nvSpPr>
          <p:cNvPr id="4" name="Freeform 4"/>
          <p:cNvSpPr/>
          <p:nvPr/>
        </p:nvSpPr>
        <p:spPr>
          <a:xfrm>
            <a:off x="2131961" y="3476608"/>
            <a:ext cx="1970255" cy="1974195"/>
          </a:xfrm>
          <a:custGeom>
            <a:avLst/>
            <a:gdLst/>
            <a:ahLst/>
            <a:cxnLst/>
            <a:rect l="l" t="t" r="r" b="b"/>
            <a:pathLst>
              <a:path w="1970255" h="1974195">
                <a:moveTo>
                  <a:pt x="0" y="0"/>
                </a:moveTo>
                <a:lnTo>
                  <a:pt x="1970255" y="0"/>
                </a:lnTo>
                <a:lnTo>
                  <a:pt x="1970255" y="1974195"/>
                </a:lnTo>
                <a:lnTo>
                  <a:pt x="0" y="19741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V="1">
            <a:off x="4102216" y="4463705"/>
            <a:ext cx="2349886" cy="0"/>
          </a:xfrm>
          <a:prstGeom prst="line">
            <a:avLst/>
          </a:prstGeom>
          <a:ln w="47625" cap="rnd">
            <a:solidFill>
              <a:srgbClr val="000B5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452101" y="3452795"/>
            <a:ext cx="1970255" cy="1974195"/>
          </a:xfrm>
          <a:custGeom>
            <a:avLst/>
            <a:gdLst/>
            <a:ahLst/>
            <a:cxnLst/>
            <a:rect l="l" t="t" r="r" b="b"/>
            <a:pathLst>
              <a:path w="1970255" h="1974195">
                <a:moveTo>
                  <a:pt x="0" y="0"/>
                </a:moveTo>
                <a:lnTo>
                  <a:pt x="1970255" y="0"/>
                </a:lnTo>
                <a:lnTo>
                  <a:pt x="1970255" y="1974195"/>
                </a:lnTo>
                <a:lnTo>
                  <a:pt x="0" y="19741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804112" y="3476608"/>
            <a:ext cx="1970255" cy="1974195"/>
          </a:xfrm>
          <a:custGeom>
            <a:avLst/>
            <a:gdLst/>
            <a:ahLst/>
            <a:cxnLst/>
            <a:rect l="l" t="t" r="r" b="b"/>
            <a:pathLst>
              <a:path w="1970255" h="1974195">
                <a:moveTo>
                  <a:pt x="0" y="0"/>
                </a:moveTo>
                <a:lnTo>
                  <a:pt x="1970254" y="0"/>
                </a:lnTo>
                <a:lnTo>
                  <a:pt x="1970254" y="1974195"/>
                </a:lnTo>
                <a:lnTo>
                  <a:pt x="0" y="19741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V="1">
            <a:off x="8422356" y="4416080"/>
            <a:ext cx="2381756" cy="0"/>
          </a:xfrm>
          <a:prstGeom prst="line">
            <a:avLst/>
          </a:prstGeom>
          <a:ln w="47625" cap="rnd">
            <a:solidFill>
              <a:srgbClr val="000B5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131961" y="3968405"/>
            <a:ext cx="1970255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84030" y="3935068"/>
            <a:ext cx="706398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99"/>
              </a:lnSpc>
              <a:spcBef>
                <a:spcPct val="0"/>
              </a:spcBef>
            </a:pPr>
            <a:r>
              <a:rPr lang="en-US" sz="4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6040" y="3958880"/>
            <a:ext cx="706398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99"/>
              </a:lnSpc>
              <a:spcBef>
                <a:spcPct val="0"/>
              </a:spcBef>
            </a:pPr>
            <a:r>
              <a:rPr lang="en-US" sz="4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id="12" name="Freeform 12"/>
          <p:cNvSpPr/>
          <p:nvPr/>
        </p:nvSpPr>
        <p:spPr>
          <a:xfrm>
            <a:off x="15031847" y="3405170"/>
            <a:ext cx="1970255" cy="1974195"/>
          </a:xfrm>
          <a:custGeom>
            <a:avLst/>
            <a:gdLst/>
            <a:ahLst/>
            <a:cxnLst/>
            <a:rect l="l" t="t" r="r" b="b"/>
            <a:pathLst>
              <a:path w="1970255" h="1974195">
                <a:moveTo>
                  <a:pt x="0" y="0"/>
                </a:moveTo>
                <a:lnTo>
                  <a:pt x="1970254" y="0"/>
                </a:lnTo>
                <a:lnTo>
                  <a:pt x="1970254" y="1974195"/>
                </a:lnTo>
                <a:lnTo>
                  <a:pt x="0" y="19741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5663775" y="3911255"/>
            <a:ext cx="706398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99"/>
              </a:lnSpc>
              <a:spcBef>
                <a:spcPct val="0"/>
              </a:spcBef>
            </a:pPr>
            <a:r>
              <a:rPr lang="en-US" sz="4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sp>
        <p:nvSpPr>
          <p:cNvPr id="14" name="AutoShape 14"/>
          <p:cNvSpPr/>
          <p:nvPr/>
        </p:nvSpPr>
        <p:spPr>
          <a:xfrm flipV="1">
            <a:off x="12774366" y="4392268"/>
            <a:ext cx="2381756" cy="0"/>
          </a:xfrm>
          <a:prstGeom prst="line">
            <a:avLst/>
          </a:prstGeom>
          <a:ln w="47625" cap="rnd">
            <a:solidFill>
              <a:srgbClr val="000B5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840018" y="5736080"/>
            <a:ext cx="4554141" cy="1795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6"/>
              </a:lnSpc>
            </a:pPr>
            <a:r>
              <a:rPr lang="en-US" sz="5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Thu thập</a:t>
            </a:r>
          </a:p>
          <a:p>
            <a:pPr algn="ctr">
              <a:lnSpc>
                <a:spcPts val="7176"/>
              </a:lnSpc>
              <a:spcBef>
                <a:spcPct val="0"/>
              </a:spcBef>
            </a:pPr>
            <a:r>
              <a:rPr lang="en-US" sz="5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dữ liệu văn bản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00880" y="5736080"/>
            <a:ext cx="5176718" cy="1795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5"/>
              </a:lnSpc>
            </a:pPr>
            <a:r>
              <a:rPr lang="en-US" sz="5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Phát hiện</a:t>
            </a:r>
          </a:p>
          <a:p>
            <a:pPr algn="ctr">
              <a:lnSpc>
                <a:spcPts val="7175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Cắt bounding box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151949" y="5736080"/>
            <a:ext cx="2570559" cy="1795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5"/>
              </a:lnSpc>
            </a:pPr>
            <a:r>
              <a:rPr lang="en-US" sz="5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Xử lý</a:t>
            </a:r>
          </a:p>
          <a:p>
            <a:pPr algn="ctr">
              <a:lnSpc>
                <a:spcPts val="7175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hình ảnh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695261" y="5736080"/>
            <a:ext cx="2643426" cy="1795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5"/>
              </a:lnSpc>
            </a:pPr>
            <a:r>
              <a:rPr lang="en-US" sz="5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Đánh giá</a:t>
            </a:r>
          </a:p>
          <a:p>
            <a:pPr algn="ctr">
              <a:lnSpc>
                <a:spcPts val="7175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mô hình</a:t>
            </a:r>
          </a:p>
        </p:txBody>
      </p:sp>
    </p:spTree>
  </p:cSld>
  <p:clrMapOvr>
    <a:masterClrMapping/>
  </p:clrMapOvr>
  <p:transition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11624" y="-876298"/>
            <a:ext cx="8588336" cy="12938910"/>
          </a:xfrm>
          <a:custGeom>
            <a:avLst/>
            <a:gdLst/>
            <a:ahLst/>
            <a:cxnLst/>
            <a:rect l="l" t="t" r="r" b="b"/>
            <a:pathLst>
              <a:path w="8588336" h="12938910">
                <a:moveTo>
                  <a:pt x="0" y="0"/>
                </a:moveTo>
                <a:lnTo>
                  <a:pt x="8588336" y="0"/>
                </a:lnTo>
                <a:lnTo>
                  <a:pt x="8588336" y="12938910"/>
                </a:lnTo>
                <a:lnTo>
                  <a:pt x="0" y="12938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399632" y="4067175"/>
            <a:ext cx="7985482" cy="3705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THỰC NGHIỆM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99632" y="2238375"/>
            <a:ext cx="2345550" cy="187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id="5" name="AutoShape 5"/>
          <p:cNvSpPr/>
          <p:nvPr/>
        </p:nvSpPr>
        <p:spPr>
          <a:xfrm>
            <a:off x="1399632" y="2356875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1034" y="6727250"/>
            <a:ext cx="19568000" cy="4694008"/>
          </a:xfrm>
          <a:custGeom>
            <a:avLst/>
            <a:gdLst/>
            <a:ahLst/>
            <a:cxnLst/>
            <a:rect l="l" t="t" r="r" b="b"/>
            <a:pathLst>
              <a:path w="19568000" h="4694008">
                <a:moveTo>
                  <a:pt x="0" y="0"/>
                </a:moveTo>
                <a:lnTo>
                  <a:pt x="19568000" y="0"/>
                </a:lnTo>
                <a:lnTo>
                  <a:pt x="19568000" y="4694008"/>
                </a:lnTo>
                <a:lnTo>
                  <a:pt x="0" y="4694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531425" y="482549"/>
            <a:ext cx="15225150" cy="1390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99"/>
              </a:lnSpc>
            </a:pPr>
            <a:r>
              <a:rPr lang="en-US" sz="8999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TẬP DỮ LIỆU</a:t>
            </a:r>
          </a:p>
        </p:txBody>
      </p:sp>
      <p:sp>
        <p:nvSpPr>
          <p:cNvPr id="4" name="Freeform 4"/>
          <p:cNvSpPr/>
          <p:nvPr/>
        </p:nvSpPr>
        <p:spPr>
          <a:xfrm rot="10528533">
            <a:off x="-1122889" y="-1565069"/>
            <a:ext cx="19568000" cy="4694008"/>
          </a:xfrm>
          <a:custGeom>
            <a:avLst/>
            <a:gdLst/>
            <a:ahLst/>
            <a:cxnLst/>
            <a:rect l="l" t="t" r="r" b="b"/>
            <a:pathLst>
              <a:path w="19568000" h="4694008">
                <a:moveTo>
                  <a:pt x="0" y="0"/>
                </a:moveTo>
                <a:lnTo>
                  <a:pt x="19568000" y="0"/>
                </a:lnTo>
                <a:lnTo>
                  <a:pt x="19568000" y="4694008"/>
                </a:lnTo>
                <a:lnTo>
                  <a:pt x="0" y="4694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9134475" y="2129257"/>
            <a:ext cx="19050" cy="71289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2305919" y="2220177"/>
            <a:ext cx="5247982" cy="1920017"/>
            <a:chOff x="0" y="0"/>
            <a:chExt cx="1110813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10813" cy="406400"/>
            </a:xfrm>
            <a:custGeom>
              <a:avLst/>
              <a:gdLst/>
              <a:ahLst/>
              <a:cxnLst/>
              <a:rect l="l" t="t" r="r" b="b"/>
              <a:pathLst>
                <a:path w="1110813" h="406400">
                  <a:moveTo>
                    <a:pt x="907613" y="0"/>
                  </a:moveTo>
                  <a:cubicBezTo>
                    <a:pt x="1019837" y="0"/>
                    <a:pt x="1110813" y="90976"/>
                    <a:pt x="1110813" y="203200"/>
                  </a:cubicBezTo>
                  <a:cubicBezTo>
                    <a:pt x="1110813" y="315424"/>
                    <a:pt x="1019837" y="406400"/>
                    <a:pt x="90761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FC7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85725"/>
              <a:ext cx="1110813" cy="492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r>
                <a:rPr lang="en-US" sz="44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Chars74K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734675" y="2220177"/>
            <a:ext cx="5247982" cy="1920017"/>
            <a:chOff x="0" y="0"/>
            <a:chExt cx="1110813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10813" cy="406400"/>
            </a:xfrm>
            <a:custGeom>
              <a:avLst/>
              <a:gdLst/>
              <a:ahLst/>
              <a:cxnLst/>
              <a:rect l="l" t="t" r="r" b="b"/>
              <a:pathLst>
                <a:path w="1110813" h="406400">
                  <a:moveTo>
                    <a:pt x="907613" y="0"/>
                  </a:moveTo>
                  <a:cubicBezTo>
                    <a:pt x="1019837" y="0"/>
                    <a:pt x="1110813" y="90976"/>
                    <a:pt x="1110813" y="203200"/>
                  </a:cubicBezTo>
                  <a:cubicBezTo>
                    <a:pt x="1110813" y="315424"/>
                    <a:pt x="1019837" y="406400"/>
                    <a:pt x="90761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FC7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1110813" cy="492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r>
                <a:rPr lang="en-US" sz="44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IIIT 5K-coco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4303" y="4330700"/>
            <a:ext cx="7405322" cy="4321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6919"/>
              </a:lnSpc>
              <a:buFont typeface="Arial"/>
              <a:buChar char="•"/>
            </a:pPr>
            <a:r>
              <a:rPr lang="en-US" sz="3999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Dữ liệu sử dụng: 7705 ảnh.</a:t>
            </a:r>
          </a:p>
          <a:p>
            <a:pPr marL="863596" lvl="1" indent="-431798" algn="l">
              <a:lnSpc>
                <a:spcPts val="6919"/>
              </a:lnSpc>
              <a:buFont typeface="Arial"/>
              <a:buChar char="•"/>
            </a:pPr>
            <a:r>
              <a:rPr lang="en-US" sz="3999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Kích thước sử dụng: 32x32.</a:t>
            </a:r>
          </a:p>
          <a:p>
            <a:pPr marL="863596" lvl="1" indent="-431798" algn="l">
              <a:lnSpc>
                <a:spcPts val="6919"/>
              </a:lnSpc>
              <a:buFont typeface="Arial"/>
              <a:buChar char="•"/>
            </a:pPr>
            <a:r>
              <a:rPr lang="en-US" sz="3999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Mỗi ảnh có một nhãn riêng.</a:t>
            </a:r>
          </a:p>
          <a:p>
            <a:pPr marL="863596" lvl="1" indent="-431798" algn="l">
              <a:lnSpc>
                <a:spcPts val="6919"/>
              </a:lnSpc>
              <a:buFont typeface="Arial"/>
              <a:buChar char="•"/>
            </a:pPr>
            <a:r>
              <a:rPr lang="en-US" sz="3999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Nâng cao độ chính xác trong nhận dạng ký tự.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58375" y="4464050"/>
            <a:ext cx="7477124" cy="4979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Dữ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liệu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sử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dụng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: test (3000 </a:t>
            </a: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ảnh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Kích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thước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sử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dụng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giống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dữ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liệu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gốc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Mỗi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ảnh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có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một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nhãn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riêng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Nâng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cao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độ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chính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xác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trong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nhận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dạng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văn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999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bản</a:t>
            </a:r>
            <a:r>
              <a:rPr lang="en-US" sz="3999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347" y="6727250"/>
            <a:ext cx="19568000" cy="4694008"/>
          </a:xfrm>
          <a:custGeom>
            <a:avLst/>
            <a:gdLst/>
            <a:ahLst/>
            <a:cxnLst/>
            <a:rect l="l" t="t" r="r" b="b"/>
            <a:pathLst>
              <a:path w="19568000" h="4694008">
                <a:moveTo>
                  <a:pt x="0" y="0"/>
                </a:moveTo>
                <a:lnTo>
                  <a:pt x="19568000" y="0"/>
                </a:lnTo>
                <a:lnTo>
                  <a:pt x="19568000" y="4694008"/>
                </a:lnTo>
                <a:lnTo>
                  <a:pt x="0" y="4694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0528533">
            <a:off x="-640000" y="-1514404"/>
            <a:ext cx="19568000" cy="4694008"/>
          </a:xfrm>
          <a:custGeom>
            <a:avLst/>
            <a:gdLst/>
            <a:ahLst/>
            <a:cxnLst/>
            <a:rect l="l" t="t" r="r" b="b"/>
            <a:pathLst>
              <a:path w="19568000" h="4694008">
                <a:moveTo>
                  <a:pt x="0" y="0"/>
                </a:moveTo>
                <a:lnTo>
                  <a:pt x="19568000" y="0"/>
                </a:lnTo>
                <a:lnTo>
                  <a:pt x="19568000" y="4694008"/>
                </a:lnTo>
                <a:lnTo>
                  <a:pt x="0" y="4694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166528" y="2924021"/>
            <a:ext cx="13954943" cy="4986471"/>
          </a:xfrm>
          <a:custGeom>
            <a:avLst/>
            <a:gdLst/>
            <a:ahLst/>
            <a:cxnLst/>
            <a:rect l="l" t="t" r="r" b="b"/>
            <a:pathLst>
              <a:path w="13954943" h="4986471">
                <a:moveTo>
                  <a:pt x="0" y="0"/>
                </a:moveTo>
                <a:lnTo>
                  <a:pt x="13954944" y="0"/>
                </a:lnTo>
                <a:lnTo>
                  <a:pt x="13954944" y="4986471"/>
                </a:lnTo>
                <a:lnTo>
                  <a:pt x="0" y="49864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552065" y="866775"/>
            <a:ext cx="4791670" cy="1222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CHARS74K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1034" y="6727250"/>
            <a:ext cx="19568000" cy="4694008"/>
          </a:xfrm>
          <a:custGeom>
            <a:avLst/>
            <a:gdLst/>
            <a:ahLst/>
            <a:cxnLst/>
            <a:rect l="l" t="t" r="r" b="b"/>
            <a:pathLst>
              <a:path w="19568000" h="4694008">
                <a:moveTo>
                  <a:pt x="0" y="0"/>
                </a:moveTo>
                <a:lnTo>
                  <a:pt x="19568000" y="0"/>
                </a:lnTo>
                <a:lnTo>
                  <a:pt x="19568000" y="4694008"/>
                </a:lnTo>
                <a:lnTo>
                  <a:pt x="0" y="4694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0528533">
            <a:off x="-640000" y="-1514404"/>
            <a:ext cx="19568000" cy="4694008"/>
          </a:xfrm>
          <a:custGeom>
            <a:avLst/>
            <a:gdLst/>
            <a:ahLst/>
            <a:cxnLst/>
            <a:rect l="l" t="t" r="r" b="b"/>
            <a:pathLst>
              <a:path w="19568000" h="4694008">
                <a:moveTo>
                  <a:pt x="0" y="0"/>
                </a:moveTo>
                <a:lnTo>
                  <a:pt x="19568000" y="0"/>
                </a:lnTo>
                <a:lnTo>
                  <a:pt x="19568000" y="4694008"/>
                </a:lnTo>
                <a:lnTo>
                  <a:pt x="0" y="4694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34681" y="2945749"/>
            <a:ext cx="8168285" cy="1996692"/>
          </a:xfrm>
          <a:custGeom>
            <a:avLst/>
            <a:gdLst/>
            <a:ahLst/>
            <a:cxnLst/>
            <a:rect l="l" t="t" r="r" b="b"/>
            <a:pathLst>
              <a:path w="8168285" h="1996692">
                <a:moveTo>
                  <a:pt x="0" y="0"/>
                </a:moveTo>
                <a:lnTo>
                  <a:pt x="8168285" y="0"/>
                </a:lnTo>
                <a:lnTo>
                  <a:pt x="8168285" y="1996692"/>
                </a:lnTo>
                <a:lnTo>
                  <a:pt x="0" y="1996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7156523" y="5143500"/>
            <a:ext cx="9839790" cy="4343907"/>
          </a:xfrm>
          <a:custGeom>
            <a:avLst/>
            <a:gdLst/>
            <a:ahLst/>
            <a:cxnLst/>
            <a:rect l="l" t="t" r="r" b="b"/>
            <a:pathLst>
              <a:path w="9839790" h="4343907">
                <a:moveTo>
                  <a:pt x="0" y="0"/>
                </a:moveTo>
                <a:lnTo>
                  <a:pt x="9839790" y="0"/>
                </a:lnTo>
                <a:lnTo>
                  <a:pt x="9839790" y="4343907"/>
                </a:lnTo>
                <a:lnTo>
                  <a:pt x="0" y="43439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009319" y="866775"/>
            <a:ext cx="6335081" cy="1146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IIIT5K - COCO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3650" y="-663257"/>
            <a:ext cx="19315300" cy="12098276"/>
          </a:xfrm>
          <a:custGeom>
            <a:avLst/>
            <a:gdLst/>
            <a:ahLst/>
            <a:cxnLst/>
            <a:rect l="l" t="t" r="r" b="b"/>
            <a:pathLst>
              <a:path w="19315300" h="12098276">
                <a:moveTo>
                  <a:pt x="0" y="0"/>
                </a:moveTo>
                <a:lnTo>
                  <a:pt x="19315300" y="0"/>
                </a:lnTo>
                <a:lnTo>
                  <a:pt x="19315300" y="12098276"/>
                </a:lnTo>
                <a:lnTo>
                  <a:pt x="0" y="12098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503371" y="4664634"/>
            <a:ext cx="3559071" cy="2731372"/>
            <a:chOff x="0" y="0"/>
            <a:chExt cx="937368" cy="7193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37368" cy="719374"/>
            </a:xfrm>
            <a:custGeom>
              <a:avLst/>
              <a:gdLst/>
              <a:ahLst/>
              <a:cxnLst/>
              <a:rect l="l" t="t" r="r" b="b"/>
              <a:pathLst>
                <a:path w="937368" h="719374">
                  <a:moveTo>
                    <a:pt x="110938" y="0"/>
                  </a:moveTo>
                  <a:lnTo>
                    <a:pt x="826430" y="0"/>
                  </a:lnTo>
                  <a:cubicBezTo>
                    <a:pt x="887699" y="0"/>
                    <a:pt x="937368" y="49669"/>
                    <a:pt x="937368" y="110938"/>
                  </a:cubicBezTo>
                  <a:lnTo>
                    <a:pt x="937368" y="608435"/>
                  </a:lnTo>
                  <a:cubicBezTo>
                    <a:pt x="937368" y="669705"/>
                    <a:pt x="887699" y="719374"/>
                    <a:pt x="826430" y="719374"/>
                  </a:cubicBezTo>
                  <a:lnTo>
                    <a:pt x="110938" y="719374"/>
                  </a:lnTo>
                  <a:cubicBezTo>
                    <a:pt x="49669" y="719374"/>
                    <a:pt x="0" y="669705"/>
                    <a:pt x="0" y="608435"/>
                  </a:cubicBezTo>
                  <a:lnTo>
                    <a:pt x="0" y="110938"/>
                  </a:lnTo>
                  <a:cubicBezTo>
                    <a:pt x="0" y="49669"/>
                    <a:pt x="49669" y="0"/>
                    <a:pt x="11093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37368" cy="766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188421" y="4664634"/>
            <a:ext cx="3086100" cy="2731372"/>
            <a:chOff x="0" y="0"/>
            <a:chExt cx="812800" cy="71937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9374"/>
            </a:xfrm>
            <a:custGeom>
              <a:avLst/>
              <a:gdLst/>
              <a:ahLst/>
              <a:cxnLst/>
              <a:rect l="l" t="t" r="r" b="b"/>
              <a:pathLst>
                <a:path w="812800" h="719374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591433"/>
                  </a:lnTo>
                  <a:cubicBezTo>
                    <a:pt x="812800" y="625365"/>
                    <a:pt x="799321" y="657907"/>
                    <a:pt x="775327" y="681901"/>
                  </a:cubicBezTo>
                  <a:cubicBezTo>
                    <a:pt x="751333" y="705894"/>
                    <a:pt x="718791" y="719374"/>
                    <a:pt x="684859" y="719374"/>
                  </a:cubicBezTo>
                  <a:lnTo>
                    <a:pt x="127941" y="719374"/>
                  </a:lnTo>
                  <a:cubicBezTo>
                    <a:pt x="94009" y="719374"/>
                    <a:pt x="61467" y="705894"/>
                    <a:pt x="37473" y="681901"/>
                  </a:cubicBezTo>
                  <a:cubicBezTo>
                    <a:pt x="13479" y="657907"/>
                    <a:pt x="0" y="625365"/>
                    <a:pt x="0" y="591433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766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013479" y="4664634"/>
            <a:ext cx="3086100" cy="2731372"/>
            <a:chOff x="0" y="0"/>
            <a:chExt cx="812800" cy="71937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9374"/>
            </a:xfrm>
            <a:custGeom>
              <a:avLst/>
              <a:gdLst/>
              <a:ahLst/>
              <a:cxnLst/>
              <a:rect l="l" t="t" r="r" b="b"/>
              <a:pathLst>
                <a:path w="812800" h="719374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591433"/>
                  </a:lnTo>
                  <a:cubicBezTo>
                    <a:pt x="812800" y="625365"/>
                    <a:pt x="799321" y="657907"/>
                    <a:pt x="775327" y="681901"/>
                  </a:cubicBezTo>
                  <a:cubicBezTo>
                    <a:pt x="751333" y="705894"/>
                    <a:pt x="718791" y="719374"/>
                    <a:pt x="684859" y="719374"/>
                  </a:cubicBezTo>
                  <a:lnTo>
                    <a:pt x="127941" y="719374"/>
                  </a:lnTo>
                  <a:cubicBezTo>
                    <a:pt x="94009" y="719374"/>
                    <a:pt x="61467" y="705894"/>
                    <a:pt x="37473" y="681901"/>
                  </a:cubicBezTo>
                  <a:cubicBezTo>
                    <a:pt x="13479" y="657907"/>
                    <a:pt x="0" y="625365"/>
                    <a:pt x="0" y="591433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12800" cy="766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838756" y="3594554"/>
            <a:ext cx="1785431" cy="178543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19599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663813" y="3594554"/>
            <a:ext cx="1785431" cy="178543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19599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390191" y="3594554"/>
            <a:ext cx="1785431" cy="1785431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19599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74521" y="657903"/>
            <a:ext cx="7738958" cy="1714485"/>
            <a:chOff x="0" y="0"/>
            <a:chExt cx="2038244" cy="45155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38244" cy="451552"/>
            </a:xfrm>
            <a:custGeom>
              <a:avLst/>
              <a:gdLst/>
              <a:ahLst/>
              <a:cxnLst/>
              <a:rect l="l" t="t" r="r" b="b"/>
              <a:pathLst>
                <a:path w="2038244" h="451552">
                  <a:moveTo>
                    <a:pt x="51020" y="0"/>
                  </a:moveTo>
                  <a:lnTo>
                    <a:pt x="1987224" y="0"/>
                  </a:lnTo>
                  <a:cubicBezTo>
                    <a:pt x="2015402" y="0"/>
                    <a:pt x="2038244" y="22842"/>
                    <a:pt x="2038244" y="51020"/>
                  </a:cubicBezTo>
                  <a:lnTo>
                    <a:pt x="2038244" y="400532"/>
                  </a:lnTo>
                  <a:cubicBezTo>
                    <a:pt x="2038244" y="414063"/>
                    <a:pt x="2032869" y="427040"/>
                    <a:pt x="2023301" y="436608"/>
                  </a:cubicBezTo>
                  <a:cubicBezTo>
                    <a:pt x="2013733" y="446176"/>
                    <a:pt x="2000756" y="451552"/>
                    <a:pt x="1987224" y="451552"/>
                  </a:cubicBezTo>
                  <a:lnTo>
                    <a:pt x="51020" y="451552"/>
                  </a:lnTo>
                  <a:cubicBezTo>
                    <a:pt x="37488" y="451552"/>
                    <a:pt x="24511" y="446176"/>
                    <a:pt x="14943" y="436608"/>
                  </a:cubicBezTo>
                  <a:cubicBezTo>
                    <a:pt x="5375" y="427040"/>
                    <a:pt x="0" y="414063"/>
                    <a:pt x="0" y="400532"/>
                  </a:cubicBezTo>
                  <a:lnTo>
                    <a:pt x="0" y="51020"/>
                  </a:lnTo>
                  <a:cubicBezTo>
                    <a:pt x="0" y="37488"/>
                    <a:pt x="5375" y="24511"/>
                    <a:pt x="14943" y="14943"/>
                  </a:cubicBezTo>
                  <a:cubicBezTo>
                    <a:pt x="24511" y="5375"/>
                    <a:pt x="37488" y="0"/>
                    <a:pt x="51020" y="0"/>
                  </a:cubicBez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2038244" cy="499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4315398" y="866775"/>
            <a:ext cx="9657205" cy="1222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CÁC KIẾN TRÚC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52237" y="5644368"/>
            <a:ext cx="3461339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000B5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DENSENET121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013479" y="5779059"/>
            <a:ext cx="30861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000B5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VGG19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188421" y="5779059"/>
            <a:ext cx="30861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000B5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CNN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650325" y="4020545"/>
            <a:ext cx="1265163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B5D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122538" y="4020545"/>
            <a:ext cx="1217866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B5D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920465" y="4020545"/>
            <a:ext cx="1272127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B5D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640000" y="-1514404"/>
            <a:ext cx="19568000" cy="4694008"/>
          </a:xfrm>
          <a:custGeom>
            <a:avLst/>
            <a:gdLst/>
            <a:ahLst/>
            <a:cxnLst/>
            <a:rect l="l" t="t" r="r" b="b"/>
            <a:pathLst>
              <a:path w="19568000" h="4694008">
                <a:moveTo>
                  <a:pt x="0" y="0"/>
                </a:moveTo>
                <a:lnTo>
                  <a:pt x="19568000" y="0"/>
                </a:lnTo>
                <a:lnTo>
                  <a:pt x="19568000" y="4694008"/>
                </a:lnTo>
                <a:lnTo>
                  <a:pt x="0" y="4694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021130" y="2740817"/>
            <a:ext cx="12245740" cy="6517483"/>
          </a:xfrm>
          <a:custGeom>
            <a:avLst/>
            <a:gdLst/>
            <a:ahLst/>
            <a:cxnLst/>
            <a:rect l="l" t="t" r="r" b="b"/>
            <a:pathLst>
              <a:path w="12245740" h="6517483">
                <a:moveTo>
                  <a:pt x="0" y="0"/>
                </a:moveTo>
                <a:lnTo>
                  <a:pt x="12245740" y="0"/>
                </a:lnTo>
                <a:lnTo>
                  <a:pt x="12245740" y="6517483"/>
                </a:lnTo>
                <a:lnTo>
                  <a:pt x="0" y="65174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058897" y="866775"/>
            <a:ext cx="9778008" cy="1222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TRANSFER-LEARNING</a:t>
            </a:r>
          </a:p>
        </p:txBody>
      </p:sp>
    </p:spTree>
  </p:cSld>
  <p:clrMapOvr>
    <a:masterClrMapping/>
  </p:clrMapOvr>
  <p:transition>
    <p:cover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20426" y="315660"/>
            <a:ext cx="8211226" cy="12167734"/>
          </a:xfrm>
          <a:custGeom>
            <a:avLst/>
            <a:gdLst/>
            <a:ahLst/>
            <a:cxnLst/>
            <a:rect l="l" t="t" r="r" b="b"/>
            <a:pathLst>
              <a:path w="8211226" h="12167734">
                <a:moveTo>
                  <a:pt x="0" y="0"/>
                </a:moveTo>
                <a:lnTo>
                  <a:pt x="8211226" y="0"/>
                </a:lnTo>
                <a:lnTo>
                  <a:pt x="8211226" y="12167734"/>
                </a:lnTo>
                <a:lnTo>
                  <a:pt x="0" y="121677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7182526" y="-206644"/>
            <a:ext cx="8211226" cy="12167734"/>
          </a:xfrm>
          <a:custGeom>
            <a:avLst/>
            <a:gdLst/>
            <a:ahLst/>
            <a:cxnLst/>
            <a:rect l="l" t="t" r="r" b="b"/>
            <a:pathLst>
              <a:path w="8211226" h="12167734">
                <a:moveTo>
                  <a:pt x="0" y="0"/>
                </a:moveTo>
                <a:lnTo>
                  <a:pt x="8211226" y="0"/>
                </a:lnTo>
                <a:lnTo>
                  <a:pt x="8211226" y="12167734"/>
                </a:lnTo>
                <a:lnTo>
                  <a:pt x="0" y="121677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68667" y="2756563"/>
            <a:ext cx="16350665" cy="5450222"/>
          </a:xfrm>
          <a:custGeom>
            <a:avLst/>
            <a:gdLst/>
            <a:ahLst/>
            <a:cxnLst/>
            <a:rect l="l" t="t" r="r" b="b"/>
            <a:pathLst>
              <a:path w="16350665" h="5450222">
                <a:moveTo>
                  <a:pt x="0" y="0"/>
                </a:moveTo>
                <a:lnTo>
                  <a:pt x="16350666" y="0"/>
                </a:lnTo>
                <a:lnTo>
                  <a:pt x="16350666" y="5450222"/>
                </a:lnTo>
                <a:lnTo>
                  <a:pt x="0" y="54502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048502" y="417453"/>
            <a:ext cx="8190996" cy="1222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MÔ HÌNH CNN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11262" y="1925884"/>
            <a:ext cx="8211226" cy="12167734"/>
          </a:xfrm>
          <a:custGeom>
            <a:avLst/>
            <a:gdLst/>
            <a:ahLst/>
            <a:cxnLst/>
            <a:rect l="l" t="t" r="r" b="b"/>
            <a:pathLst>
              <a:path w="8211226" h="12167734">
                <a:moveTo>
                  <a:pt x="0" y="0"/>
                </a:moveTo>
                <a:lnTo>
                  <a:pt x="8211226" y="0"/>
                </a:lnTo>
                <a:lnTo>
                  <a:pt x="8211226" y="12167734"/>
                </a:lnTo>
                <a:lnTo>
                  <a:pt x="0" y="121677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7023564" y="-4157983"/>
            <a:ext cx="8211226" cy="12167734"/>
          </a:xfrm>
          <a:custGeom>
            <a:avLst/>
            <a:gdLst/>
            <a:ahLst/>
            <a:cxnLst/>
            <a:rect l="l" t="t" r="r" b="b"/>
            <a:pathLst>
              <a:path w="8211226" h="12167734">
                <a:moveTo>
                  <a:pt x="0" y="0"/>
                </a:moveTo>
                <a:lnTo>
                  <a:pt x="8211226" y="0"/>
                </a:lnTo>
                <a:lnTo>
                  <a:pt x="8211226" y="12167734"/>
                </a:lnTo>
                <a:lnTo>
                  <a:pt x="0" y="121677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899351" y="464355"/>
            <a:ext cx="10489179" cy="1222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MÔ HÌNH CNN CẢI TIẾN</a:t>
            </a:r>
          </a:p>
        </p:txBody>
      </p:sp>
      <p:pic>
        <p:nvPicPr>
          <p:cNvPr id="7" name="Picture 6" descr="A colorful squares with black text&#10;&#10;Description automatically generated">
            <a:extLst>
              <a:ext uri="{FF2B5EF4-FFF2-40B4-BE49-F238E27FC236}">
                <a16:creationId xmlns:a16="http://schemas.microsoft.com/office/drawing/2014/main" id="{6400377F-939D-3115-3E4D-D03745A3EC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621" y="3349655"/>
            <a:ext cx="16017709" cy="2189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06B6AD-5F3B-4D31-03AC-175CDC9982B9}"/>
              </a:ext>
            </a:extLst>
          </p:cNvPr>
          <p:cNvSpPr txBox="1"/>
          <p:nvPr/>
        </p:nvSpPr>
        <p:spPr>
          <a:xfrm>
            <a:off x="1187662" y="2304505"/>
            <a:ext cx="10089938" cy="666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Mô</a:t>
            </a:r>
            <a:r>
              <a:rPr lang="en-US" sz="3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hình</a:t>
            </a:r>
            <a:r>
              <a:rPr lang="en-US" sz="3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vi-VN" sz="3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CNN</a:t>
            </a:r>
            <a:r>
              <a:rPr lang="en-US" sz="3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xử</a:t>
            </a:r>
            <a:r>
              <a:rPr lang="en-US" sz="3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lý</a:t>
            </a:r>
            <a:r>
              <a:rPr lang="en-US" sz="3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ảnh</a:t>
            </a:r>
            <a:r>
              <a:rPr lang="en-US" sz="3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màu</a:t>
            </a:r>
            <a:r>
              <a:rPr lang="vi-VN" sz="3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và ảnh xám</a:t>
            </a:r>
            <a:r>
              <a:rPr lang="en-US" sz="3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4E39E02-C14D-9A29-29D8-901E0A8D5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62" y="6032287"/>
            <a:ext cx="16049668" cy="2194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89750" y="-2341250"/>
            <a:ext cx="8310338" cy="12220432"/>
          </a:xfrm>
          <a:custGeom>
            <a:avLst/>
            <a:gdLst/>
            <a:ahLst/>
            <a:cxnLst/>
            <a:rect l="l" t="t" r="r" b="b"/>
            <a:pathLst>
              <a:path w="8310338" h="12220432">
                <a:moveTo>
                  <a:pt x="0" y="0"/>
                </a:moveTo>
                <a:lnTo>
                  <a:pt x="8310338" y="0"/>
                </a:lnTo>
                <a:lnTo>
                  <a:pt x="8310338" y="12220432"/>
                </a:lnTo>
                <a:lnTo>
                  <a:pt x="0" y="12220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400000">
            <a:off x="10637608" y="6032107"/>
            <a:ext cx="8310338" cy="12220432"/>
          </a:xfrm>
          <a:custGeom>
            <a:avLst/>
            <a:gdLst/>
            <a:ahLst/>
            <a:cxnLst/>
            <a:rect l="l" t="t" r="r" b="b"/>
            <a:pathLst>
              <a:path w="8310338" h="12220432">
                <a:moveTo>
                  <a:pt x="0" y="0"/>
                </a:moveTo>
                <a:lnTo>
                  <a:pt x="8310338" y="0"/>
                </a:lnTo>
                <a:lnTo>
                  <a:pt x="8310338" y="12220432"/>
                </a:lnTo>
                <a:lnTo>
                  <a:pt x="0" y="12220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09736" y="3213152"/>
            <a:ext cx="16049564" cy="4774002"/>
          </a:xfrm>
          <a:custGeom>
            <a:avLst/>
            <a:gdLst/>
            <a:ahLst/>
            <a:cxnLst/>
            <a:rect l="l" t="t" r="r" b="b"/>
            <a:pathLst>
              <a:path w="16049564" h="4774002">
                <a:moveTo>
                  <a:pt x="0" y="0"/>
                </a:moveTo>
                <a:lnTo>
                  <a:pt x="16049564" y="0"/>
                </a:lnTo>
                <a:lnTo>
                  <a:pt x="16049564" y="4774002"/>
                </a:lnTo>
                <a:lnTo>
                  <a:pt x="0" y="47740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914513" y="866775"/>
            <a:ext cx="14458974" cy="1222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MÔ HÌNH DENSENET121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89750" y="-2341250"/>
            <a:ext cx="8310338" cy="12220432"/>
          </a:xfrm>
          <a:custGeom>
            <a:avLst/>
            <a:gdLst/>
            <a:ahLst/>
            <a:cxnLst/>
            <a:rect l="l" t="t" r="r" b="b"/>
            <a:pathLst>
              <a:path w="8310338" h="12220432">
                <a:moveTo>
                  <a:pt x="0" y="0"/>
                </a:moveTo>
                <a:lnTo>
                  <a:pt x="8310338" y="0"/>
                </a:lnTo>
                <a:lnTo>
                  <a:pt x="8310338" y="12220432"/>
                </a:lnTo>
                <a:lnTo>
                  <a:pt x="0" y="12220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400000">
            <a:off x="10637608" y="6032107"/>
            <a:ext cx="8310338" cy="12220432"/>
          </a:xfrm>
          <a:custGeom>
            <a:avLst/>
            <a:gdLst/>
            <a:ahLst/>
            <a:cxnLst/>
            <a:rect l="l" t="t" r="r" b="b"/>
            <a:pathLst>
              <a:path w="8310338" h="12220432">
                <a:moveTo>
                  <a:pt x="0" y="0"/>
                </a:moveTo>
                <a:lnTo>
                  <a:pt x="8310338" y="0"/>
                </a:lnTo>
                <a:lnTo>
                  <a:pt x="8310338" y="12220432"/>
                </a:lnTo>
                <a:lnTo>
                  <a:pt x="0" y="12220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740123" y="475927"/>
            <a:ext cx="14849821" cy="1222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MÔ HÌNH DENSENET121 CẢI TIẾN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9089" y="2002630"/>
            <a:ext cx="1105840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Mô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hình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DenseNet121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xử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lý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ảnh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xám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19088" y="5075619"/>
            <a:ext cx="8644111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Mô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hình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DenseNet121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xử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lý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ảnh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màu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</p:txBody>
      </p:sp>
      <p:pic>
        <p:nvPicPr>
          <p:cNvPr id="9" name="Picture 8" descr="A green and orange bars&#10;&#10;Description automatically generated">
            <a:extLst>
              <a:ext uri="{FF2B5EF4-FFF2-40B4-BE49-F238E27FC236}">
                <a16:creationId xmlns:a16="http://schemas.microsoft.com/office/drawing/2014/main" id="{FFAD3493-3867-23F7-A367-60B2DE300D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723" y="2583020"/>
            <a:ext cx="14570552" cy="2290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9C399AA6-CB58-809C-204F-704C57CE2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723" y="5843612"/>
            <a:ext cx="14849821" cy="389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14513" y="512047"/>
            <a:ext cx="14458974" cy="1222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MÔ HÌNH VGG19</a:t>
            </a:r>
          </a:p>
        </p:txBody>
      </p:sp>
      <p:sp>
        <p:nvSpPr>
          <p:cNvPr id="3" name="Freeform 3"/>
          <p:cNvSpPr/>
          <p:nvPr/>
        </p:nvSpPr>
        <p:spPr>
          <a:xfrm>
            <a:off x="14842582" y="-8576785"/>
            <a:ext cx="8310338" cy="12220432"/>
          </a:xfrm>
          <a:custGeom>
            <a:avLst/>
            <a:gdLst/>
            <a:ahLst/>
            <a:cxnLst/>
            <a:rect l="l" t="t" r="r" b="b"/>
            <a:pathLst>
              <a:path w="8310338" h="12220432">
                <a:moveTo>
                  <a:pt x="0" y="0"/>
                </a:moveTo>
                <a:lnTo>
                  <a:pt x="8310338" y="0"/>
                </a:lnTo>
                <a:lnTo>
                  <a:pt x="8310338" y="12220432"/>
                </a:lnTo>
                <a:lnTo>
                  <a:pt x="0" y="12220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5400000">
            <a:off x="-5524354" y="5733290"/>
            <a:ext cx="8310338" cy="12220432"/>
          </a:xfrm>
          <a:custGeom>
            <a:avLst/>
            <a:gdLst/>
            <a:ahLst/>
            <a:cxnLst/>
            <a:rect l="l" t="t" r="r" b="b"/>
            <a:pathLst>
              <a:path w="8310338" h="12220432">
                <a:moveTo>
                  <a:pt x="0" y="0"/>
                </a:moveTo>
                <a:lnTo>
                  <a:pt x="8310338" y="0"/>
                </a:lnTo>
                <a:lnTo>
                  <a:pt x="8310338" y="12220432"/>
                </a:lnTo>
                <a:lnTo>
                  <a:pt x="0" y="12220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2370354" y="2116007"/>
            <a:ext cx="14003133" cy="8170993"/>
          </a:xfrm>
          <a:custGeom>
            <a:avLst/>
            <a:gdLst/>
            <a:ahLst/>
            <a:cxnLst/>
            <a:rect l="l" t="t" r="r" b="b"/>
            <a:pathLst>
              <a:path w="14003133" h="8170993">
                <a:moveTo>
                  <a:pt x="0" y="0"/>
                </a:moveTo>
                <a:lnTo>
                  <a:pt x="14003133" y="0"/>
                </a:lnTo>
                <a:lnTo>
                  <a:pt x="14003133" y="8170993"/>
                </a:lnTo>
                <a:lnTo>
                  <a:pt x="0" y="81709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485" b="-4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4373164" y="-9346678"/>
            <a:ext cx="8310338" cy="12220432"/>
          </a:xfrm>
          <a:custGeom>
            <a:avLst/>
            <a:gdLst/>
            <a:ahLst/>
            <a:cxnLst/>
            <a:rect l="l" t="t" r="r" b="b"/>
            <a:pathLst>
              <a:path w="8310338" h="12220432">
                <a:moveTo>
                  <a:pt x="0" y="0"/>
                </a:moveTo>
                <a:lnTo>
                  <a:pt x="8310338" y="0"/>
                </a:lnTo>
                <a:lnTo>
                  <a:pt x="8310338" y="12220432"/>
                </a:lnTo>
                <a:lnTo>
                  <a:pt x="0" y="12220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954063" y="5143500"/>
            <a:ext cx="8310338" cy="12220432"/>
          </a:xfrm>
          <a:custGeom>
            <a:avLst/>
            <a:gdLst/>
            <a:ahLst/>
            <a:cxnLst/>
            <a:rect l="l" t="t" r="r" b="b"/>
            <a:pathLst>
              <a:path w="8310338" h="12220432">
                <a:moveTo>
                  <a:pt x="0" y="0"/>
                </a:moveTo>
                <a:lnTo>
                  <a:pt x="8310338" y="0"/>
                </a:lnTo>
                <a:lnTo>
                  <a:pt x="8310338" y="12220432"/>
                </a:lnTo>
                <a:lnTo>
                  <a:pt x="0" y="12220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14513" y="512047"/>
            <a:ext cx="14458974" cy="1222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MÔ HÌNH VGG19 CẢI TIẾN</a:t>
            </a:r>
          </a:p>
        </p:txBody>
      </p:sp>
      <p:sp>
        <p:nvSpPr>
          <p:cNvPr id="3" name="Freeform 3"/>
          <p:cNvSpPr/>
          <p:nvPr/>
        </p:nvSpPr>
        <p:spPr>
          <a:xfrm>
            <a:off x="14842582" y="-8576785"/>
            <a:ext cx="8310338" cy="12220432"/>
          </a:xfrm>
          <a:custGeom>
            <a:avLst/>
            <a:gdLst/>
            <a:ahLst/>
            <a:cxnLst/>
            <a:rect l="l" t="t" r="r" b="b"/>
            <a:pathLst>
              <a:path w="8310338" h="12220432">
                <a:moveTo>
                  <a:pt x="0" y="0"/>
                </a:moveTo>
                <a:lnTo>
                  <a:pt x="8310338" y="0"/>
                </a:lnTo>
                <a:lnTo>
                  <a:pt x="8310338" y="12220432"/>
                </a:lnTo>
                <a:lnTo>
                  <a:pt x="0" y="12220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5400000">
            <a:off x="-5524354" y="5733290"/>
            <a:ext cx="8310338" cy="12220432"/>
          </a:xfrm>
          <a:custGeom>
            <a:avLst/>
            <a:gdLst/>
            <a:ahLst/>
            <a:cxnLst/>
            <a:rect l="l" t="t" r="r" b="b"/>
            <a:pathLst>
              <a:path w="8310338" h="12220432">
                <a:moveTo>
                  <a:pt x="0" y="0"/>
                </a:moveTo>
                <a:lnTo>
                  <a:pt x="8310338" y="0"/>
                </a:lnTo>
                <a:lnTo>
                  <a:pt x="8310338" y="12220432"/>
                </a:lnTo>
                <a:lnTo>
                  <a:pt x="0" y="12220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4373164" y="-9346678"/>
            <a:ext cx="8310338" cy="12220432"/>
          </a:xfrm>
          <a:custGeom>
            <a:avLst/>
            <a:gdLst/>
            <a:ahLst/>
            <a:cxnLst/>
            <a:rect l="l" t="t" r="r" b="b"/>
            <a:pathLst>
              <a:path w="8310338" h="12220432">
                <a:moveTo>
                  <a:pt x="0" y="0"/>
                </a:moveTo>
                <a:lnTo>
                  <a:pt x="8310338" y="0"/>
                </a:lnTo>
                <a:lnTo>
                  <a:pt x="8310338" y="12220432"/>
                </a:lnTo>
                <a:lnTo>
                  <a:pt x="0" y="12220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954063" y="5143500"/>
            <a:ext cx="8310338" cy="12220432"/>
          </a:xfrm>
          <a:custGeom>
            <a:avLst/>
            <a:gdLst/>
            <a:ahLst/>
            <a:cxnLst/>
            <a:rect l="l" t="t" r="r" b="b"/>
            <a:pathLst>
              <a:path w="8310338" h="12220432">
                <a:moveTo>
                  <a:pt x="0" y="0"/>
                </a:moveTo>
                <a:lnTo>
                  <a:pt x="8310338" y="0"/>
                </a:lnTo>
                <a:lnTo>
                  <a:pt x="8310338" y="12220432"/>
                </a:lnTo>
                <a:lnTo>
                  <a:pt x="0" y="12220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E331439-29AD-F21D-ADB4-9E6DA5B6B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207" y="3279577"/>
            <a:ext cx="15867586" cy="4166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32453" y="336550"/>
            <a:ext cx="11423095" cy="1222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PHƯƠNG PHÁP ĐÁNH GIÁ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81966" y="3005540"/>
            <a:ext cx="13900785" cy="4413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00"/>
              </a:lnSpc>
            </a:pPr>
            <a:r>
              <a:rPr lang="en-US" sz="5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Hàm </a:t>
            </a:r>
            <a:r>
              <a:rPr lang="en-US" sz="5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calculate_accuracy</a:t>
            </a:r>
          </a:p>
          <a:p>
            <a:pPr marL="1079501" lvl="1" indent="-539750" algn="l">
              <a:lnSpc>
                <a:spcPts val="89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Lặp qua các chuỗi ký tự dự đoán và thực tế.</a:t>
            </a:r>
          </a:p>
          <a:p>
            <a:pPr marL="1079501" lvl="1" indent="-539750" algn="l">
              <a:lnSpc>
                <a:spcPts val="89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 sánh từng ký tự tương ứng.</a:t>
            </a:r>
          </a:p>
          <a:p>
            <a:pPr marL="1079501" lvl="1" indent="-539750" algn="l">
              <a:lnSpc>
                <a:spcPts val="89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Đếm số ký tự đúng.</a:t>
            </a:r>
          </a:p>
        </p:txBody>
      </p:sp>
      <p:sp>
        <p:nvSpPr>
          <p:cNvPr id="4" name="Freeform 4"/>
          <p:cNvSpPr/>
          <p:nvPr/>
        </p:nvSpPr>
        <p:spPr>
          <a:xfrm>
            <a:off x="-513646" y="-540333"/>
            <a:ext cx="19315300" cy="11774426"/>
          </a:xfrm>
          <a:custGeom>
            <a:avLst/>
            <a:gdLst/>
            <a:ahLst/>
            <a:cxnLst/>
            <a:rect l="l" t="t" r="r" b="b"/>
            <a:pathLst>
              <a:path w="19315300" h="11774426">
                <a:moveTo>
                  <a:pt x="0" y="0"/>
                </a:moveTo>
                <a:lnTo>
                  <a:pt x="19315300" y="0"/>
                </a:lnTo>
                <a:lnTo>
                  <a:pt x="19315300" y="11774426"/>
                </a:lnTo>
                <a:lnTo>
                  <a:pt x="0" y="11774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02864" y="-1263598"/>
            <a:ext cx="8310338" cy="12220432"/>
          </a:xfrm>
          <a:custGeom>
            <a:avLst/>
            <a:gdLst/>
            <a:ahLst/>
            <a:cxnLst/>
            <a:rect l="l" t="t" r="r" b="b"/>
            <a:pathLst>
              <a:path w="8310338" h="12220432">
                <a:moveTo>
                  <a:pt x="0" y="0"/>
                </a:moveTo>
                <a:lnTo>
                  <a:pt x="8310338" y="0"/>
                </a:lnTo>
                <a:lnTo>
                  <a:pt x="8310338" y="12220432"/>
                </a:lnTo>
                <a:lnTo>
                  <a:pt x="0" y="122204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276411" y="4347343"/>
            <a:ext cx="10982889" cy="3705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400"/>
              </a:lnSpc>
            </a:pPr>
            <a:r>
              <a:rPr lang="en-US" sz="120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KẾT QUẢ</a:t>
            </a:r>
          </a:p>
          <a:p>
            <a:pPr algn="r">
              <a:lnSpc>
                <a:spcPts val="14400"/>
              </a:lnSpc>
            </a:pPr>
            <a:r>
              <a:rPr lang="en-US" sz="120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THỰC NGHIỆM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913750" y="2480443"/>
            <a:ext cx="2345550" cy="187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400"/>
              </a:lnSpc>
            </a:pPr>
            <a:r>
              <a:rPr lang="en-US" sz="120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id="5" name="AutoShape 5"/>
          <p:cNvSpPr/>
          <p:nvPr/>
        </p:nvSpPr>
        <p:spPr>
          <a:xfrm>
            <a:off x="10767060" y="2475118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20426" y="315660"/>
            <a:ext cx="8211226" cy="12167734"/>
          </a:xfrm>
          <a:custGeom>
            <a:avLst/>
            <a:gdLst/>
            <a:ahLst/>
            <a:cxnLst/>
            <a:rect l="l" t="t" r="r" b="b"/>
            <a:pathLst>
              <a:path w="8211226" h="12167734">
                <a:moveTo>
                  <a:pt x="0" y="0"/>
                </a:moveTo>
                <a:lnTo>
                  <a:pt x="8211226" y="0"/>
                </a:lnTo>
                <a:lnTo>
                  <a:pt x="8211226" y="12167734"/>
                </a:lnTo>
                <a:lnTo>
                  <a:pt x="0" y="121677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6567664" y="-766714"/>
            <a:ext cx="8211226" cy="12167734"/>
          </a:xfrm>
          <a:custGeom>
            <a:avLst/>
            <a:gdLst/>
            <a:ahLst/>
            <a:cxnLst/>
            <a:rect l="l" t="t" r="r" b="b"/>
            <a:pathLst>
              <a:path w="8211226" h="12167734">
                <a:moveTo>
                  <a:pt x="0" y="0"/>
                </a:moveTo>
                <a:lnTo>
                  <a:pt x="8211226" y="0"/>
                </a:lnTo>
                <a:lnTo>
                  <a:pt x="8211226" y="12167734"/>
                </a:lnTo>
                <a:lnTo>
                  <a:pt x="0" y="121677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11155" y="2451195"/>
            <a:ext cx="16665689" cy="5731916"/>
          </a:xfrm>
          <a:custGeom>
            <a:avLst/>
            <a:gdLst/>
            <a:ahLst/>
            <a:cxnLst/>
            <a:rect l="l" t="t" r="r" b="b"/>
            <a:pathLst>
              <a:path w="16665689" h="5731916">
                <a:moveTo>
                  <a:pt x="0" y="0"/>
                </a:moveTo>
                <a:lnTo>
                  <a:pt x="16665690" y="0"/>
                </a:lnTo>
                <a:lnTo>
                  <a:pt x="16665690" y="5731917"/>
                </a:lnTo>
                <a:lnTo>
                  <a:pt x="0" y="5731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230" b="-123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048502" y="336550"/>
            <a:ext cx="8190996" cy="1222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MÔ HÌNH CNN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82029" y="8578850"/>
            <a:ext cx="772394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Mô hình CNN cải tiến (Grayscale)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14394" y="336550"/>
            <a:ext cx="14458974" cy="1222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MÔ HÌNH DENSENET121</a:t>
            </a:r>
          </a:p>
        </p:txBody>
      </p:sp>
      <p:sp>
        <p:nvSpPr>
          <p:cNvPr id="3" name="Freeform 3"/>
          <p:cNvSpPr/>
          <p:nvPr/>
        </p:nvSpPr>
        <p:spPr>
          <a:xfrm>
            <a:off x="-6395825" y="-2081116"/>
            <a:ext cx="8310338" cy="12220432"/>
          </a:xfrm>
          <a:custGeom>
            <a:avLst/>
            <a:gdLst/>
            <a:ahLst/>
            <a:cxnLst/>
            <a:rect l="l" t="t" r="r" b="b"/>
            <a:pathLst>
              <a:path w="8310338" h="12220432">
                <a:moveTo>
                  <a:pt x="0" y="0"/>
                </a:moveTo>
                <a:lnTo>
                  <a:pt x="8310338" y="0"/>
                </a:lnTo>
                <a:lnTo>
                  <a:pt x="8310338" y="12220432"/>
                </a:lnTo>
                <a:lnTo>
                  <a:pt x="0" y="12220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5400000">
            <a:off x="10637608" y="6032107"/>
            <a:ext cx="8310338" cy="12220432"/>
          </a:xfrm>
          <a:custGeom>
            <a:avLst/>
            <a:gdLst/>
            <a:ahLst/>
            <a:cxnLst/>
            <a:rect l="l" t="t" r="r" b="b"/>
            <a:pathLst>
              <a:path w="8310338" h="12220432">
                <a:moveTo>
                  <a:pt x="0" y="0"/>
                </a:moveTo>
                <a:lnTo>
                  <a:pt x="8310338" y="0"/>
                </a:lnTo>
                <a:lnTo>
                  <a:pt x="8310338" y="12220432"/>
                </a:lnTo>
                <a:lnTo>
                  <a:pt x="0" y="12220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18423" y="2202339"/>
            <a:ext cx="16650915" cy="5882321"/>
          </a:xfrm>
          <a:custGeom>
            <a:avLst/>
            <a:gdLst/>
            <a:ahLst/>
            <a:cxnLst/>
            <a:rect l="l" t="t" r="r" b="b"/>
            <a:pathLst>
              <a:path w="16650915" h="5882321">
                <a:moveTo>
                  <a:pt x="0" y="0"/>
                </a:moveTo>
                <a:lnTo>
                  <a:pt x="16650916" y="0"/>
                </a:lnTo>
                <a:lnTo>
                  <a:pt x="16650916" y="5882322"/>
                </a:lnTo>
                <a:lnTo>
                  <a:pt x="0" y="58823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129986" y="8578850"/>
            <a:ext cx="8028027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Mô hình DenseNet121 (Grayscale)</a:t>
            </a:r>
          </a:p>
        </p:txBody>
      </p:sp>
    </p:spTree>
  </p:cSld>
  <p:clrMapOvr>
    <a:masterClrMapping/>
  </p:clrMapOvr>
  <p:transition>
    <p:cover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7300" y="-743713"/>
            <a:ext cx="19315300" cy="11774426"/>
          </a:xfrm>
          <a:custGeom>
            <a:avLst/>
            <a:gdLst/>
            <a:ahLst/>
            <a:cxnLst/>
            <a:rect l="l" t="t" r="r" b="b"/>
            <a:pathLst>
              <a:path w="19315300" h="11774426">
                <a:moveTo>
                  <a:pt x="0" y="0"/>
                </a:moveTo>
                <a:lnTo>
                  <a:pt x="19315300" y="0"/>
                </a:lnTo>
                <a:lnTo>
                  <a:pt x="19315300" y="11774426"/>
                </a:lnTo>
                <a:lnTo>
                  <a:pt x="0" y="11774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671932" y="4048895"/>
            <a:ext cx="9587368" cy="4760083"/>
          </a:xfrm>
          <a:custGeom>
            <a:avLst/>
            <a:gdLst/>
            <a:ahLst/>
            <a:cxnLst/>
            <a:rect l="l" t="t" r="r" b="b"/>
            <a:pathLst>
              <a:path w="9587368" h="4760083">
                <a:moveTo>
                  <a:pt x="0" y="0"/>
                </a:moveTo>
                <a:lnTo>
                  <a:pt x="9587368" y="0"/>
                </a:lnTo>
                <a:lnTo>
                  <a:pt x="9587368" y="4760083"/>
                </a:lnTo>
                <a:lnTo>
                  <a:pt x="0" y="47600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810711"/>
            <a:ext cx="8168285" cy="1996692"/>
          </a:xfrm>
          <a:custGeom>
            <a:avLst/>
            <a:gdLst/>
            <a:ahLst/>
            <a:cxnLst/>
            <a:rect l="l" t="t" r="r" b="b"/>
            <a:pathLst>
              <a:path w="8168285" h="1996692">
                <a:moveTo>
                  <a:pt x="0" y="0"/>
                </a:moveTo>
                <a:lnTo>
                  <a:pt x="8168285" y="0"/>
                </a:lnTo>
                <a:lnTo>
                  <a:pt x="8168285" y="1996692"/>
                </a:lnTo>
                <a:lnTo>
                  <a:pt x="0" y="19966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357861" y="3135471"/>
            <a:ext cx="3509962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Hình ảnh gốc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21247" y="9172575"/>
            <a:ext cx="6275953" cy="771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Ảnh</a:t>
            </a:r>
            <a:r>
              <a:rPr lang="en-US" sz="4500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500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sau</a:t>
            </a:r>
            <a:r>
              <a:rPr lang="en-US" sz="4500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500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khi</a:t>
            </a:r>
            <a:r>
              <a:rPr lang="en-US" sz="4500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500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nhận</a:t>
            </a:r>
            <a:r>
              <a:rPr lang="en-US" sz="4500" dirty="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500" dirty="0" err="1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dạng</a:t>
            </a:r>
            <a:endParaRPr lang="en-US" sz="4500" dirty="0">
              <a:solidFill>
                <a:srgbClr val="38465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57966" y="5330370"/>
            <a:ext cx="20486520" cy="5527976"/>
          </a:xfrm>
          <a:custGeom>
            <a:avLst/>
            <a:gdLst/>
            <a:ahLst/>
            <a:cxnLst/>
            <a:rect l="l" t="t" r="r" b="b"/>
            <a:pathLst>
              <a:path w="20486520" h="5527976">
                <a:moveTo>
                  <a:pt x="0" y="0"/>
                </a:moveTo>
                <a:lnTo>
                  <a:pt x="20486520" y="0"/>
                </a:lnTo>
                <a:lnTo>
                  <a:pt x="20486520" y="5527976"/>
                </a:lnTo>
                <a:lnTo>
                  <a:pt x="0" y="5527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185721" y="227620"/>
            <a:ext cx="11999145" cy="9831761"/>
          </a:xfrm>
          <a:custGeom>
            <a:avLst/>
            <a:gdLst/>
            <a:ahLst/>
            <a:cxnLst/>
            <a:rect l="l" t="t" r="r" b="b"/>
            <a:pathLst>
              <a:path w="11999145" h="9831761">
                <a:moveTo>
                  <a:pt x="0" y="0"/>
                </a:moveTo>
                <a:lnTo>
                  <a:pt x="11999146" y="0"/>
                </a:lnTo>
                <a:lnTo>
                  <a:pt x="11999146" y="9831760"/>
                </a:lnTo>
                <a:lnTo>
                  <a:pt x="0" y="9831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cover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66344" y="-592780"/>
            <a:ext cx="8853196" cy="11327248"/>
          </a:xfrm>
          <a:custGeom>
            <a:avLst/>
            <a:gdLst/>
            <a:ahLst/>
            <a:cxnLst/>
            <a:rect l="l" t="t" r="r" b="b"/>
            <a:pathLst>
              <a:path w="8853196" h="11327248">
                <a:moveTo>
                  <a:pt x="0" y="0"/>
                </a:moveTo>
                <a:lnTo>
                  <a:pt x="8853196" y="0"/>
                </a:lnTo>
                <a:lnTo>
                  <a:pt x="8853196" y="11327248"/>
                </a:lnTo>
                <a:lnTo>
                  <a:pt x="0" y="113272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399632" y="4401502"/>
            <a:ext cx="9711825" cy="187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KẾT LUẬN</a:t>
            </a:r>
          </a:p>
        </p:txBody>
      </p:sp>
      <p:sp>
        <p:nvSpPr>
          <p:cNvPr id="4" name="AutoShape 4"/>
          <p:cNvSpPr/>
          <p:nvPr/>
        </p:nvSpPr>
        <p:spPr>
          <a:xfrm>
            <a:off x="1399632" y="2356875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399632" y="2448877"/>
            <a:ext cx="2345550" cy="187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sp>
        <p:nvSpPr>
          <p:cNvPr id="6" name="AutoShape 6"/>
          <p:cNvSpPr/>
          <p:nvPr/>
        </p:nvSpPr>
        <p:spPr>
          <a:xfrm>
            <a:off x="1399632" y="2356875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4557" y="4390269"/>
            <a:ext cx="4859740" cy="3086100"/>
            <a:chOff x="0" y="0"/>
            <a:chExt cx="127993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79931" cy="812800"/>
            </a:xfrm>
            <a:custGeom>
              <a:avLst/>
              <a:gdLst/>
              <a:ahLst/>
              <a:cxnLst/>
              <a:rect l="l" t="t" r="r" b="b"/>
              <a:pathLst>
                <a:path w="1279931" h="812800">
                  <a:moveTo>
                    <a:pt x="81247" y="0"/>
                  </a:moveTo>
                  <a:lnTo>
                    <a:pt x="1198685" y="0"/>
                  </a:lnTo>
                  <a:cubicBezTo>
                    <a:pt x="1220233" y="0"/>
                    <a:pt x="1240898" y="8560"/>
                    <a:pt x="1256135" y="23797"/>
                  </a:cubicBezTo>
                  <a:cubicBezTo>
                    <a:pt x="1271372" y="39033"/>
                    <a:pt x="1279931" y="59699"/>
                    <a:pt x="1279931" y="81247"/>
                  </a:cubicBezTo>
                  <a:lnTo>
                    <a:pt x="1279931" y="731553"/>
                  </a:lnTo>
                  <a:cubicBezTo>
                    <a:pt x="1279931" y="753101"/>
                    <a:pt x="1271372" y="773767"/>
                    <a:pt x="1256135" y="789003"/>
                  </a:cubicBezTo>
                  <a:cubicBezTo>
                    <a:pt x="1240898" y="804240"/>
                    <a:pt x="1220233" y="812800"/>
                    <a:pt x="1198685" y="812800"/>
                  </a:cubicBezTo>
                  <a:lnTo>
                    <a:pt x="81247" y="812800"/>
                  </a:lnTo>
                  <a:cubicBezTo>
                    <a:pt x="59699" y="812800"/>
                    <a:pt x="39033" y="804240"/>
                    <a:pt x="23797" y="789003"/>
                  </a:cubicBezTo>
                  <a:cubicBezTo>
                    <a:pt x="8560" y="773767"/>
                    <a:pt x="0" y="753101"/>
                    <a:pt x="0" y="731553"/>
                  </a:cubicBezTo>
                  <a:lnTo>
                    <a:pt x="0" y="81247"/>
                  </a:lnTo>
                  <a:cubicBezTo>
                    <a:pt x="0" y="59699"/>
                    <a:pt x="8560" y="39033"/>
                    <a:pt x="23797" y="23797"/>
                  </a:cubicBezTo>
                  <a:cubicBezTo>
                    <a:pt x="39033" y="8560"/>
                    <a:pt x="59699" y="0"/>
                    <a:pt x="8124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279931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49652" y="5038725"/>
            <a:ext cx="4349550" cy="222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70"/>
              </a:lnSpc>
            </a:pPr>
            <a:r>
              <a:rPr lang="en-US" sz="650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Tinh chỉnh tham số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713284" y="4390269"/>
            <a:ext cx="4859740" cy="3086100"/>
            <a:chOff x="0" y="0"/>
            <a:chExt cx="1279931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79931" cy="812800"/>
            </a:xfrm>
            <a:custGeom>
              <a:avLst/>
              <a:gdLst/>
              <a:ahLst/>
              <a:cxnLst/>
              <a:rect l="l" t="t" r="r" b="b"/>
              <a:pathLst>
                <a:path w="1279931" h="812800">
                  <a:moveTo>
                    <a:pt x="81247" y="0"/>
                  </a:moveTo>
                  <a:lnTo>
                    <a:pt x="1198685" y="0"/>
                  </a:lnTo>
                  <a:cubicBezTo>
                    <a:pt x="1220233" y="0"/>
                    <a:pt x="1240898" y="8560"/>
                    <a:pt x="1256135" y="23797"/>
                  </a:cubicBezTo>
                  <a:cubicBezTo>
                    <a:pt x="1271372" y="39033"/>
                    <a:pt x="1279931" y="59699"/>
                    <a:pt x="1279931" y="81247"/>
                  </a:cubicBezTo>
                  <a:lnTo>
                    <a:pt x="1279931" y="731553"/>
                  </a:lnTo>
                  <a:cubicBezTo>
                    <a:pt x="1279931" y="753101"/>
                    <a:pt x="1271372" y="773767"/>
                    <a:pt x="1256135" y="789003"/>
                  </a:cubicBezTo>
                  <a:cubicBezTo>
                    <a:pt x="1240898" y="804240"/>
                    <a:pt x="1220233" y="812800"/>
                    <a:pt x="1198685" y="812800"/>
                  </a:cubicBezTo>
                  <a:lnTo>
                    <a:pt x="81247" y="812800"/>
                  </a:lnTo>
                  <a:cubicBezTo>
                    <a:pt x="59699" y="812800"/>
                    <a:pt x="39033" y="804240"/>
                    <a:pt x="23797" y="789003"/>
                  </a:cubicBezTo>
                  <a:cubicBezTo>
                    <a:pt x="8560" y="773767"/>
                    <a:pt x="0" y="753101"/>
                    <a:pt x="0" y="731553"/>
                  </a:cubicBezTo>
                  <a:lnTo>
                    <a:pt x="0" y="81247"/>
                  </a:lnTo>
                  <a:cubicBezTo>
                    <a:pt x="0" y="59699"/>
                    <a:pt x="8560" y="39033"/>
                    <a:pt x="23797" y="23797"/>
                  </a:cubicBezTo>
                  <a:cubicBezTo>
                    <a:pt x="39033" y="8560"/>
                    <a:pt x="59699" y="0"/>
                    <a:pt x="8124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79931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161333" y="4390269"/>
            <a:ext cx="4859740" cy="3086100"/>
            <a:chOff x="0" y="0"/>
            <a:chExt cx="1279931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79931" cy="812800"/>
            </a:xfrm>
            <a:custGeom>
              <a:avLst/>
              <a:gdLst/>
              <a:ahLst/>
              <a:cxnLst/>
              <a:rect l="l" t="t" r="r" b="b"/>
              <a:pathLst>
                <a:path w="1279931" h="812800">
                  <a:moveTo>
                    <a:pt x="81247" y="0"/>
                  </a:moveTo>
                  <a:lnTo>
                    <a:pt x="1198685" y="0"/>
                  </a:lnTo>
                  <a:cubicBezTo>
                    <a:pt x="1220233" y="0"/>
                    <a:pt x="1240898" y="8560"/>
                    <a:pt x="1256135" y="23797"/>
                  </a:cubicBezTo>
                  <a:cubicBezTo>
                    <a:pt x="1271372" y="39033"/>
                    <a:pt x="1279931" y="59699"/>
                    <a:pt x="1279931" y="81247"/>
                  </a:cubicBezTo>
                  <a:lnTo>
                    <a:pt x="1279931" y="731553"/>
                  </a:lnTo>
                  <a:cubicBezTo>
                    <a:pt x="1279931" y="753101"/>
                    <a:pt x="1271372" y="773767"/>
                    <a:pt x="1256135" y="789003"/>
                  </a:cubicBezTo>
                  <a:cubicBezTo>
                    <a:pt x="1240898" y="804240"/>
                    <a:pt x="1220233" y="812800"/>
                    <a:pt x="1198685" y="812800"/>
                  </a:cubicBezTo>
                  <a:lnTo>
                    <a:pt x="81247" y="812800"/>
                  </a:lnTo>
                  <a:cubicBezTo>
                    <a:pt x="59699" y="812800"/>
                    <a:pt x="39033" y="804240"/>
                    <a:pt x="23797" y="789003"/>
                  </a:cubicBezTo>
                  <a:cubicBezTo>
                    <a:pt x="8560" y="773767"/>
                    <a:pt x="0" y="753101"/>
                    <a:pt x="0" y="731553"/>
                  </a:cubicBezTo>
                  <a:lnTo>
                    <a:pt x="0" y="81247"/>
                  </a:lnTo>
                  <a:cubicBezTo>
                    <a:pt x="0" y="59699"/>
                    <a:pt x="8560" y="39033"/>
                    <a:pt x="23797" y="23797"/>
                  </a:cubicBezTo>
                  <a:cubicBezTo>
                    <a:pt x="39033" y="8560"/>
                    <a:pt x="59699" y="0"/>
                    <a:pt x="8124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79931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-551996" y="6663744"/>
            <a:ext cx="19392020" cy="4681942"/>
          </a:xfrm>
          <a:custGeom>
            <a:avLst/>
            <a:gdLst/>
            <a:ahLst/>
            <a:cxnLst/>
            <a:rect l="l" t="t" r="r" b="b"/>
            <a:pathLst>
              <a:path w="19392020" h="4681942">
                <a:moveTo>
                  <a:pt x="0" y="0"/>
                </a:moveTo>
                <a:lnTo>
                  <a:pt x="19392020" y="0"/>
                </a:lnTo>
                <a:lnTo>
                  <a:pt x="19392020" y="4681942"/>
                </a:lnTo>
                <a:lnTo>
                  <a:pt x="0" y="46819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3052902" y="3479679"/>
            <a:ext cx="1543050" cy="154305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19599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371629" y="3479679"/>
            <a:ext cx="1543050" cy="154305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19599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819678" y="3479679"/>
            <a:ext cx="1543050" cy="154305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19599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7512295" y="5038725"/>
            <a:ext cx="3261718" cy="222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70"/>
              </a:lnSpc>
            </a:pPr>
            <a:r>
              <a:rPr lang="en-US" sz="650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Tính</a:t>
            </a:r>
          </a:p>
          <a:p>
            <a:pPr algn="ctr">
              <a:lnSpc>
                <a:spcPts val="8970"/>
              </a:lnSpc>
            </a:pPr>
            <a:r>
              <a:rPr lang="en-US" sz="650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đa dạng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582268" y="5038725"/>
            <a:ext cx="4017871" cy="222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70"/>
              </a:lnSpc>
            </a:pPr>
            <a:r>
              <a:rPr lang="en-US" sz="650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Áp dụng kiến thức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990886" y="801484"/>
            <a:ext cx="10306256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ĐÃ LÀM ĐƯỢC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737039" y="3672084"/>
            <a:ext cx="2174775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80"/>
              </a:lnSpc>
            </a:pPr>
            <a:r>
              <a:rPr lang="en-US" sz="60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56757" y="3672084"/>
            <a:ext cx="2174487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80"/>
              </a:lnSpc>
            </a:pPr>
            <a:r>
              <a:rPr lang="en-US" sz="60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374493" y="3672084"/>
            <a:ext cx="2433419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80"/>
              </a:lnSpc>
            </a:pPr>
            <a:r>
              <a:rPr lang="en-US" sz="60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9996" y="6982404"/>
            <a:ext cx="19568000" cy="4694008"/>
          </a:xfrm>
          <a:custGeom>
            <a:avLst/>
            <a:gdLst/>
            <a:ahLst/>
            <a:cxnLst/>
            <a:rect l="l" t="t" r="r" b="b"/>
            <a:pathLst>
              <a:path w="19568000" h="4694008">
                <a:moveTo>
                  <a:pt x="0" y="0"/>
                </a:moveTo>
                <a:lnTo>
                  <a:pt x="19568000" y="0"/>
                </a:lnTo>
                <a:lnTo>
                  <a:pt x="19568000" y="4694008"/>
                </a:lnTo>
                <a:lnTo>
                  <a:pt x="0" y="46940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94557" y="4390269"/>
            <a:ext cx="4859740" cy="3086100"/>
            <a:chOff x="0" y="0"/>
            <a:chExt cx="1279931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79931" cy="812800"/>
            </a:xfrm>
            <a:custGeom>
              <a:avLst/>
              <a:gdLst/>
              <a:ahLst/>
              <a:cxnLst/>
              <a:rect l="l" t="t" r="r" b="b"/>
              <a:pathLst>
                <a:path w="1279931" h="812800">
                  <a:moveTo>
                    <a:pt x="81247" y="0"/>
                  </a:moveTo>
                  <a:lnTo>
                    <a:pt x="1198685" y="0"/>
                  </a:lnTo>
                  <a:cubicBezTo>
                    <a:pt x="1220233" y="0"/>
                    <a:pt x="1240898" y="8560"/>
                    <a:pt x="1256135" y="23797"/>
                  </a:cubicBezTo>
                  <a:cubicBezTo>
                    <a:pt x="1271372" y="39033"/>
                    <a:pt x="1279931" y="59699"/>
                    <a:pt x="1279931" y="81247"/>
                  </a:cubicBezTo>
                  <a:lnTo>
                    <a:pt x="1279931" y="731553"/>
                  </a:lnTo>
                  <a:cubicBezTo>
                    <a:pt x="1279931" y="753101"/>
                    <a:pt x="1271372" y="773767"/>
                    <a:pt x="1256135" y="789003"/>
                  </a:cubicBezTo>
                  <a:cubicBezTo>
                    <a:pt x="1240898" y="804240"/>
                    <a:pt x="1220233" y="812800"/>
                    <a:pt x="1198685" y="812800"/>
                  </a:cubicBezTo>
                  <a:lnTo>
                    <a:pt x="81247" y="812800"/>
                  </a:lnTo>
                  <a:cubicBezTo>
                    <a:pt x="59699" y="812800"/>
                    <a:pt x="39033" y="804240"/>
                    <a:pt x="23797" y="789003"/>
                  </a:cubicBezTo>
                  <a:cubicBezTo>
                    <a:pt x="8560" y="773767"/>
                    <a:pt x="0" y="753101"/>
                    <a:pt x="0" y="731553"/>
                  </a:cubicBezTo>
                  <a:lnTo>
                    <a:pt x="0" y="81247"/>
                  </a:lnTo>
                  <a:cubicBezTo>
                    <a:pt x="0" y="59699"/>
                    <a:pt x="8560" y="39033"/>
                    <a:pt x="23797" y="23797"/>
                  </a:cubicBezTo>
                  <a:cubicBezTo>
                    <a:pt x="39033" y="8560"/>
                    <a:pt x="59699" y="0"/>
                    <a:pt x="8124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279931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18594" y="5136642"/>
            <a:ext cx="4604645" cy="2053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80"/>
              </a:lnSpc>
            </a:pPr>
            <a:r>
              <a:rPr lang="en-US" sz="600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Xử lý ảnh chuyên sâu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713284" y="4390269"/>
            <a:ext cx="4965707" cy="3086100"/>
            <a:chOff x="0" y="0"/>
            <a:chExt cx="130784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07840" cy="812800"/>
            </a:xfrm>
            <a:custGeom>
              <a:avLst/>
              <a:gdLst/>
              <a:ahLst/>
              <a:cxnLst/>
              <a:rect l="l" t="t" r="r" b="b"/>
              <a:pathLst>
                <a:path w="1307840" h="812800">
                  <a:moveTo>
                    <a:pt x="79513" y="0"/>
                  </a:moveTo>
                  <a:lnTo>
                    <a:pt x="1228327" y="0"/>
                  </a:lnTo>
                  <a:cubicBezTo>
                    <a:pt x="1249416" y="0"/>
                    <a:pt x="1269640" y="8377"/>
                    <a:pt x="1284552" y="23289"/>
                  </a:cubicBezTo>
                  <a:cubicBezTo>
                    <a:pt x="1299463" y="38200"/>
                    <a:pt x="1307840" y="58425"/>
                    <a:pt x="1307840" y="79513"/>
                  </a:cubicBezTo>
                  <a:lnTo>
                    <a:pt x="1307840" y="733287"/>
                  </a:lnTo>
                  <a:cubicBezTo>
                    <a:pt x="1307840" y="754375"/>
                    <a:pt x="1299463" y="774600"/>
                    <a:pt x="1284552" y="789511"/>
                  </a:cubicBezTo>
                  <a:cubicBezTo>
                    <a:pt x="1269640" y="804423"/>
                    <a:pt x="1249416" y="812800"/>
                    <a:pt x="1228327" y="812800"/>
                  </a:cubicBezTo>
                  <a:lnTo>
                    <a:pt x="79513" y="812800"/>
                  </a:lnTo>
                  <a:cubicBezTo>
                    <a:pt x="58425" y="812800"/>
                    <a:pt x="38200" y="804423"/>
                    <a:pt x="23289" y="789511"/>
                  </a:cubicBezTo>
                  <a:cubicBezTo>
                    <a:pt x="8377" y="774600"/>
                    <a:pt x="0" y="754375"/>
                    <a:pt x="0" y="733287"/>
                  </a:cubicBezTo>
                  <a:lnTo>
                    <a:pt x="0" y="79513"/>
                  </a:lnTo>
                  <a:cubicBezTo>
                    <a:pt x="0" y="58425"/>
                    <a:pt x="8377" y="38200"/>
                    <a:pt x="23289" y="23289"/>
                  </a:cubicBezTo>
                  <a:cubicBezTo>
                    <a:pt x="38200" y="8377"/>
                    <a:pt x="58425" y="0"/>
                    <a:pt x="7951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30784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161333" y="4390269"/>
            <a:ext cx="4859740" cy="3086100"/>
            <a:chOff x="0" y="0"/>
            <a:chExt cx="1279931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79931" cy="812800"/>
            </a:xfrm>
            <a:custGeom>
              <a:avLst/>
              <a:gdLst/>
              <a:ahLst/>
              <a:cxnLst/>
              <a:rect l="l" t="t" r="r" b="b"/>
              <a:pathLst>
                <a:path w="1279931" h="812800">
                  <a:moveTo>
                    <a:pt x="81247" y="0"/>
                  </a:moveTo>
                  <a:lnTo>
                    <a:pt x="1198685" y="0"/>
                  </a:lnTo>
                  <a:cubicBezTo>
                    <a:pt x="1220233" y="0"/>
                    <a:pt x="1240898" y="8560"/>
                    <a:pt x="1256135" y="23797"/>
                  </a:cubicBezTo>
                  <a:cubicBezTo>
                    <a:pt x="1271372" y="39033"/>
                    <a:pt x="1279931" y="59699"/>
                    <a:pt x="1279931" y="81247"/>
                  </a:cubicBezTo>
                  <a:lnTo>
                    <a:pt x="1279931" y="731553"/>
                  </a:lnTo>
                  <a:cubicBezTo>
                    <a:pt x="1279931" y="753101"/>
                    <a:pt x="1271372" y="773767"/>
                    <a:pt x="1256135" y="789003"/>
                  </a:cubicBezTo>
                  <a:cubicBezTo>
                    <a:pt x="1240898" y="804240"/>
                    <a:pt x="1220233" y="812800"/>
                    <a:pt x="1198685" y="812800"/>
                  </a:cubicBezTo>
                  <a:lnTo>
                    <a:pt x="81247" y="812800"/>
                  </a:lnTo>
                  <a:cubicBezTo>
                    <a:pt x="59699" y="812800"/>
                    <a:pt x="39033" y="804240"/>
                    <a:pt x="23797" y="789003"/>
                  </a:cubicBezTo>
                  <a:cubicBezTo>
                    <a:pt x="8560" y="773767"/>
                    <a:pt x="0" y="753101"/>
                    <a:pt x="0" y="731553"/>
                  </a:cubicBezTo>
                  <a:lnTo>
                    <a:pt x="0" y="81247"/>
                  </a:lnTo>
                  <a:cubicBezTo>
                    <a:pt x="0" y="59699"/>
                    <a:pt x="8560" y="39033"/>
                    <a:pt x="23797" y="23797"/>
                  </a:cubicBezTo>
                  <a:cubicBezTo>
                    <a:pt x="39033" y="8560"/>
                    <a:pt x="59699" y="0"/>
                    <a:pt x="8124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279931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052902" y="3479679"/>
            <a:ext cx="1543050" cy="154305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19599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435444" y="3479679"/>
            <a:ext cx="1543050" cy="154305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19599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819678" y="3479679"/>
            <a:ext cx="1543050" cy="154305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19599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672828" y="5136642"/>
            <a:ext cx="5069973" cy="2053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80"/>
              </a:lnSpc>
            </a:pPr>
            <a:r>
              <a:rPr lang="en-US" sz="600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Nâng cao độ chính xác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504049" y="5136642"/>
            <a:ext cx="4174307" cy="2053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80"/>
              </a:lnSpc>
            </a:pPr>
            <a:r>
              <a:rPr lang="en-US" sz="6000">
                <a:solidFill>
                  <a:srgbClr val="384655"/>
                </a:solidFill>
                <a:latin typeface="Open Sans"/>
                <a:ea typeface="Open Sans"/>
                <a:cs typeface="Open Sans"/>
                <a:sym typeface="Open Sans"/>
              </a:rPr>
              <a:t>Thử các mô hình khác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737039" y="3672084"/>
            <a:ext cx="2174775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80"/>
              </a:lnSpc>
            </a:pPr>
            <a:r>
              <a:rPr lang="en-US" sz="60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20571" y="3672084"/>
            <a:ext cx="2174487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80"/>
              </a:lnSpc>
            </a:pPr>
            <a:r>
              <a:rPr lang="en-US" sz="60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374493" y="3672084"/>
            <a:ext cx="2433419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80"/>
              </a:lnSpc>
            </a:pPr>
            <a:r>
              <a:rPr lang="en-US" sz="60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95240" y="990600"/>
            <a:ext cx="15225150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HƯỚNG MỞ RỘNG TƯƠNG LAI</a:t>
            </a: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66344" y="-592780"/>
            <a:ext cx="8853196" cy="11327248"/>
          </a:xfrm>
          <a:custGeom>
            <a:avLst/>
            <a:gdLst/>
            <a:ahLst/>
            <a:cxnLst/>
            <a:rect l="l" t="t" r="r" b="b"/>
            <a:pathLst>
              <a:path w="8853196" h="11327248">
                <a:moveTo>
                  <a:pt x="0" y="0"/>
                </a:moveTo>
                <a:lnTo>
                  <a:pt x="8853196" y="0"/>
                </a:lnTo>
                <a:lnTo>
                  <a:pt x="8853196" y="11327248"/>
                </a:lnTo>
                <a:lnTo>
                  <a:pt x="0" y="113272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399632" y="4398254"/>
            <a:ext cx="9711825" cy="3705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TÀI LIỆU THAM KHẢO</a:t>
            </a:r>
          </a:p>
        </p:txBody>
      </p:sp>
      <p:sp>
        <p:nvSpPr>
          <p:cNvPr id="4" name="AutoShape 4"/>
          <p:cNvSpPr/>
          <p:nvPr/>
        </p:nvSpPr>
        <p:spPr>
          <a:xfrm>
            <a:off x="1399632" y="2356875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399632" y="2448877"/>
            <a:ext cx="2345550" cy="187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05</a:t>
            </a:r>
          </a:p>
        </p:txBody>
      </p:sp>
      <p:sp>
        <p:nvSpPr>
          <p:cNvPr id="6" name="AutoShape 6"/>
          <p:cNvSpPr/>
          <p:nvPr/>
        </p:nvSpPr>
        <p:spPr>
          <a:xfrm>
            <a:off x="1399632" y="2356875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3646" y="-540333"/>
            <a:ext cx="19315300" cy="11774426"/>
          </a:xfrm>
          <a:custGeom>
            <a:avLst/>
            <a:gdLst/>
            <a:ahLst/>
            <a:cxnLst/>
            <a:rect l="l" t="t" r="r" b="b"/>
            <a:pathLst>
              <a:path w="19315300" h="11774426">
                <a:moveTo>
                  <a:pt x="0" y="0"/>
                </a:moveTo>
                <a:lnTo>
                  <a:pt x="19315300" y="0"/>
                </a:lnTo>
                <a:lnTo>
                  <a:pt x="19315300" y="11774426"/>
                </a:lnTo>
                <a:lnTo>
                  <a:pt x="0" y="117744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531429" y="1000125"/>
            <a:ext cx="15225150" cy="208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384655"/>
                </a:solidFill>
                <a:latin typeface="Arimo"/>
                <a:ea typeface="Arimo"/>
                <a:cs typeface="Arimo"/>
                <a:sym typeface="Arimo"/>
              </a:rPr>
              <a:t>[1]</a:t>
            </a:r>
            <a:r>
              <a:rPr lang="en-US" sz="45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500">
                <a:solidFill>
                  <a:srgbClr val="384655"/>
                </a:solidFill>
                <a:latin typeface="Arimo"/>
                <a:ea typeface="Arimo"/>
                <a:cs typeface="Arimo"/>
                <a:sym typeface="Arimo"/>
              </a:rPr>
              <a:t>GeeksforGeeks, “Text Detection and Extraction using OpenCV and OCR," GeeksforGeeks, Jul. 30, 2024.</a:t>
            </a:r>
          </a:p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(Truy cập lần cuối 10/08/2024)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31429" y="3635624"/>
            <a:ext cx="15225150" cy="2771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384655"/>
                </a:solidFill>
                <a:latin typeface="Arimo"/>
                <a:ea typeface="Arimo"/>
                <a:cs typeface="Arimo"/>
                <a:sym typeface="Arimo"/>
              </a:rPr>
              <a:t>[2] GeeksforGeeks, “ML Transfer Learning with Convolutional Neural Networks,” GeeksforGeeks, Mar. 20, 2024.</a:t>
            </a:r>
          </a:p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(Truy cập lần cuối 10/08/2024)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31425" y="6956924"/>
            <a:ext cx="15225150" cy="208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384655"/>
                </a:solidFill>
                <a:latin typeface="Arimo"/>
                <a:ea typeface="Arimo"/>
                <a:cs typeface="Arimo"/>
                <a:sym typeface="Arimo"/>
              </a:rPr>
              <a:t>[3] M. N. Huy, “Công nghệ xử lý hình ảnh và chuyển đổi hình ảnh thành văn bản,” Viblo, Aug. 05, 2024.</a:t>
            </a:r>
          </a:p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384655"/>
                </a:solidFill>
                <a:latin typeface="Arimo Bold"/>
                <a:ea typeface="Arimo Bold"/>
                <a:cs typeface="Arimo Bold"/>
                <a:sym typeface="Arimo Bold"/>
              </a:rPr>
              <a:t>(Truy cập lần cuối 10/08/2024)</a:t>
            </a:r>
          </a:p>
        </p:txBody>
      </p:sp>
    </p:spTree>
  </p:cSld>
  <p:clrMapOvr>
    <a:masterClrMapping/>
  </p:clrMapOvr>
  <p:transition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01660" y="-520124"/>
            <a:ext cx="8853196" cy="11327248"/>
          </a:xfrm>
          <a:custGeom>
            <a:avLst/>
            <a:gdLst/>
            <a:ahLst/>
            <a:cxnLst/>
            <a:rect l="l" t="t" r="r" b="b"/>
            <a:pathLst>
              <a:path w="8853196" h="11327248">
                <a:moveTo>
                  <a:pt x="0" y="0"/>
                </a:moveTo>
                <a:lnTo>
                  <a:pt x="8853196" y="0"/>
                </a:lnTo>
                <a:lnTo>
                  <a:pt x="8853196" y="11327248"/>
                </a:lnTo>
                <a:lnTo>
                  <a:pt x="0" y="11327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443362" y="3467100"/>
            <a:ext cx="8853196" cy="11327248"/>
          </a:xfrm>
          <a:custGeom>
            <a:avLst/>
            <a:gdLst/>
            <a:ahLst/>
            <a:cxnLst/>
            <a:rect l="l" t="t" r="r" b="b"/>
            <a:pathLst>
              <a:path w="8853196" h="11327248">
                <a:moveTo>
                  <a:pt x="0" y="0"/>
                </a:moveTo>
                <a:lnTo>
                  <a:pt x="8853196" y="0"/>
                </a:lnTo>
                <a:lnTo>
                  <a:pt x="8853196" y="11327248"/>
                </a:lnTo>
                <a:lnTo>
                  <a:pt x="0" y="11327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892304" y="3419475"/>
            <a:ext cx="14503391" cy="340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8377C"/>
                </a:solidFill>
                <a:latin typeface="Arimo Bold"/>
                <a:ea typeface="Arimo Bold"/>
                <a:cs typeface="Arimo Bold"/>
                <a:sym typeface="Arimo Bold"/>
              </a:rPr>
              <a:t>CẢM ƠN THẦY CÔ ĐÃ LẮNG NGHE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712</Words>
  <Application>Microsoft Office PowerPoint</Application>
  <PresentationFormat>Custom</PresentationFormat>
  <Paragraphs>190</Paragraphs>
  <Slides>34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Open Sans</vt:lpstr>
      <vt:lpstr>Arial</vt:lpstr>
      <vt:lpstr>Arimo</vt:lpstr>
      <vt:lpstr>Open Sans Bold</vt:lpstr>
      <vt:lpstr>Calibri</vt:lpstr>
      <vt:lpstr>DM Sans Bold</vt:lpstr>
      <vt:lpstr>Arimo Bold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KHÓA LUẬN TỐT NGHIỆP</dc:title>
  <cp:lastModifiedBy>Lương Gia Ân</cp:lastModifiedBy>
  <cp:revision>4</cp:revision>
  <dcterms:created xsi:type="dcterms:W3CDTF">2006-08-16T00:00:00Z</dcterms:created>
  <dcterms:modified xsi:type="dcterms:W3CDTF">2024-08-22T04:43:05Z</dcterms:modified>
  <dc:identifier>DAGNCYXab8k</dc:identifier>
</cp:coreProperties>
</file>